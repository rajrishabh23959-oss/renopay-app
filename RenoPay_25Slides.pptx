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Premium Sub (40%)</c:v>
                </c:pt>
                <c:pt idx="1">
                  <c:v>Interchange (32%)</c:v>
                </c:pt>
                <c:pt idx="2">
                  <c:v>Digital Gold (8%)</c:v>
                </c:pt>
                <c:pt idx="3">
                  <c:v>MF Distribution (10%)</c:v>
                </c:pt>
                <c:pt idx="4">
                  <c:v>BNPL &amp; Lending (7%)</c:v>
                </c:pt>
                <c:pt idx="5">
                  <c:v>B2B Insights (3%)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40</c:v>
                </c:pt>
                <c:pt idx="1">
                  <c:v>32</c:v>
                </c:pt>
                <c:pt idx="2">
                  <c:v>8</c:v>
                </c:pt>
                <c:pt idx="3">
                  <c:v>10</c:v>
                </c:pt>
                <c:pt idx="4">
                  <c:v>7</c:v>
                </c:pt>
                <c:pt idx="5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080C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4320"/>
            <a:ext cx="5486400" cy="4572000"/>
          </a:xfrm>
          <a:prstGeom prst="ellipse">
            <a:avLst/>
          </a:prstGeom>
          <a:solidFill>
            <a:srgbClr val="002A1E"/>
          </a:solidFill>
          <a:ln w="12700">
            <a:solidFill>
              <a:srgbClr val="002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-18288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0D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502920" y="4114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691640" y="38404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1709928" y="133502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5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FEEL EVERY RUPEE YOU SPEND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09928" y="178308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Most Intelligent UPI Payment Experience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090672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0D1E18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906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  SentinAI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3090672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0D1E18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0906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UPI 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3090672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0D1E18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30906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🪙 Digital Gold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3090672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0D1E18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30906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🎙 Voice UPI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507992"/>
            <a:ext cx="9144000" cy="635508"/>
          </a:xfrm>
          <a:prstGeom prst="rect">
            <a:avLst/>
          </a:prstGeom>
          <a:solidFill>
            <a:srgbClr val="05080F"/>
          </a:solidFill>
          <a:ln w="12700">
            <a:solidFill>
              <a:srgbClr val="0508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44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/ JSX  ·  SentinAI Fraud Engine  ·  Multi-Layer Biometric Auth  ·  In-Memory DB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&amp; Experience RenoPay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FEEL EVERY RUPEE YOU SPEND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91840" y="1572768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⏸  PAUSE — Let the audience scan 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2029968"/>
            <a:ext cx="22860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029968"/>
            <a:ext cx="228600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QR CODE 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4370832"/>
            <a:ext cx="22860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renopay.vercel.app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2651760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2423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Reno-Bot AI Advisor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88336"/>
            <a:ext cx="2651760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88336"/>
            <a:ext cx="2423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Live Expense Tracker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2651760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46704"/>
            <a:ext cx="2423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🪙 Digital Gold Round-Up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2651760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05072"/>
            <a:ext cx="24231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Voice UPI Payments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029968"/>
            <a:ext cx="2606040" cy="2286000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🔑  DEMO LOGIN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91072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Phone Number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779776"/>
            <a:ext cx="22860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valid number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91072" y="3145536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🔢 UPI PIN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3410712"/>
            <a:ext cx="22860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it yourself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on any smartphone  ·  No app download needed  ·  Fully functional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"/>
            <a:ext cx="7680960" cy="4754880"/>
          </a:xfrm>
          <a:prstGeom prst="ellipse">
            <a:avLst/>
          </a:prstGeom>
          <a:solidFill>
            <a:srgbClr val="5C0A1A"/>
          </a:solidFill>
          <a:ln w="12700">
            <a:solidFill>
              <a:srgbClr val="5C0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640080"/>
            <a:ext cx="5120640" cy="3474720"/>
          </a:xfrm>
          <a:prstGeom prst="ellipse">
            <a:avLst/>
          </a:prstGeom>
          <a:solidFill>
            <a:srgbClr val="3D0015"/>
          </a:solidFill>
          <a:ln w="12700">
            <a:solidFill>
              <a:srgbClr val="3D00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2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SILENT FRAUD EPIDEMIC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2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₹1,087 Cr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to UPI fraud in FY24 alone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66160" y="3547872"/>
            <a:ext cx="2011680" cy="27432"/>
          </a:xfrm>
          <a:prstGeom prst="rect">
            <a:avLst/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675888"/>
            <a:ext cx="6949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Victims receive zero real-time warnings — scammers exploit trust gaps in seconds.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4206240"/>
            <a:ext cx="2514600" cy="749808"/>
          </a:xfrm>
          <a:prstGeom prst="rect">
            <a:avLst/>
          </a:prstGeom>
          <a:solidFill>
            <a:srgbClr val="0F1724"/>
          </a:solidFill>
          <a:ln w="12700">
            <a:solidFill>
              <a:srgbClr val="3D00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224528"/>
            <a:ext cx="2514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4617720"/>
            <a:ext cx="2514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budget tracking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4206240"/>
            <a:ext cx="2514600" cy="749808"/>
          </a:xfrm>
          <a:prstGeom prst="rect">
            <a:avLst/>
          </a:prstGeom>
          <a:solidFill>
            <a:srgbClr val="0F1724"/>
          </a:solidFill>
          <a:ln w="12700">
            <a:solidFill>
              <a:srgbClr val="3D00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4224528"/>
            <a:ext cx="2514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4617720"/>
            <a:ext cx="2514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Hindi/Tamil first users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4206240"/>
            <a:ext cx="2514600" cy="749808"/>
          </a:xfrm>
          <a:prstGeom prst="rect">
            <a:avLst/>
          </a:prstGeom>
          <a:solidFill>
            <a:srgbClr val="0F1724"/>
          </a:solidFill>
          <a:ln w="12700">
            <a:solidFill>
              <a:srgbClr val="3D001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4224528"/>
            <a:ext cx="25146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80760" y="4617720"/>
            <a:ext cx="2514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Millennials save consistently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2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Current UPI Apps Fail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4069080" cy="1444752"/>
          </a:xfrm>
          <a:prstGeom prst="rect">
            <a:avLst/>
          </a:prstGeom>
          <a:solidFill>
            <a:srgbClr val="0F1724"/>
          </a:solidFill>
          <a:ln w="12700">
            <a:solidFill>
              <a:srgbClr val="5C0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18488"/>
            <a:ext cx="640080" cy="640080"/>
          </a:xfrm>
          <a:prstGeom prst="ellipse">
            <a:avLst/>
          </a:prstGeom>
          <a:solidFill>
            <a:srgbClr val="5C0A1A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4813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2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₹1.25L Cr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17320" y="2075688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to UPI fraud in 2024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4069080" cy="1444752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56048" y="1618488"/>
            <a:ext cx="640080" cy="640080"/>
          </a:xfrm>
          <a:prstGeom prst="ellipse">
            <a:avLst/>
          </a:prstGeom>
          <a:solidFill>
            <a:srgbClr val="0D1928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618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😶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760720" y="14813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760720" y="2075688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unaware of silent transactions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898648"/>
            <a:ext cx="4069080" cy="1444752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" y="3218688"/>
            <a:ext cx="640080" cy="640080"/>
          </a:xfrm>
          <a:prstGeom prst="ellipse">
            <a:avLst/>
          </a:prstGeom>
          <a:solidFill>
            <a:srgbClr val="0D1928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17320" y="30815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BAA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417320" y="3675888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budget prediction in any UPI app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98648"/>
            <a:ext cx="4069080" cy="1444752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3218688"/>
            <a:ext cx="640080" cy="640080"/>
          </a:xfrm>
          <a:prstGeom prst="ellipse">
            <a:avLst/>
          </a:prstGeom>
          <a:solidFill>
            <a:srgbClr val="0D1928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60720" y="30815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mins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760720" y="3675888"/>
            <a:ext cx="2834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time wasted reviewing transactions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solidFill>
            <a:srgbClr val="0A102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needs a payment app that THINKS — not just transacts.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754880"/>
          </a:xfrm>
          <a:prstGeom prst="ellipse">
            <a:avLst/>
          </a:prstGeom>
          <a:solidFill>
            <a:srgbClr val="001F18"/>
          </a:solidFill>
          <a:ln w="12700">
            <a:solidFill>
              <a:srgbClr val="001F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AI-First UPI Super-App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8229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every Indian feel in control of their money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2377440"/>
            <a:ext cx="2651760" cy="10241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377440"/>
            <a:ext cx="50292" cy="10241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SentinAI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834640"/>
            <a:ext cx="2331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97.3% fraud detection accuracy in &lt;80ms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377440"/>
            <a:ext cx="2651760" cy="10241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377440"/>
            <a:ext cx="50292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Budget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31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Predicts overspend 5 days before it happens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16752" y="2377440"/>
            <a:ext cx="2651760" cy="10241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16752" y="2377440"/>
            <a:ext cx="50292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Gamified Savings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2834640"/>
            <a:ext cx="2331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Treasure maps, streaks, leaderboards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547872"/>
            <a:ext cx="2651760" cy="10241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547872"/>
            <a:ext cx="50292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UPI Lite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4005072"/>
            <a:ext cx="2331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PIN-less payments ≤ ₹500 — tap &amp; go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547872"/>
            <a:ext cx="2651760" cy="10241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3547872"/>
            <a:ext cx="50292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🥇  Digital Gold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4005072"/>
            <a:ext cx="2331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round-up spare change to 24K gold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16752" y="3547872"/>
            <a:ext cx="2651760" cy="10241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3547872"/>
            <a:ext cx="50292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3639312"/>
            <a:ext cx="2331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Voice UPI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99632" y="4005072"/>
            <a:ext cx="23317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 · Tamil · English — speak to pay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₹2T+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7160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Market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500M+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11480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₹50B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85800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RENOPAY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Payments — A Financial Universe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170432"/>
            <a:ext cx="73152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React/JSX — every feature designed to make every rupee feel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664208"/>
            <a:ext cx="1938528" cy="841248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682496"/>
            <a:ext cx="193852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15+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2103120"/>
            <a:ext cx="193852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1664208"/>
            <a:ext cx="1938528" cy="841248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1682496"/>
            <a:ext cx="193852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6-Layer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87168" y="2103120"/>
            <a:ext cx="193852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Stack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0288" y="1664208"/>
            <a:ext cx="1938528" cy="841248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682496"/>
            <a:ext cx="193852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0288" y="2103120"/>
            <a:ext cx="193852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Sync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93408" y="1664208"/>
            <a:ext cx="1938528" cy="841248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1682496"/>
            <a:ext cx="193852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93408" y="2103120"/>
            <a:ext cx="193852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Detection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743200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0A152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💸 Send &amp; Receive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87168" y="2743200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0A152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📷 AR QR Scan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90288" y="2743200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0A152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SentinAI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93408" y="2743200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0A152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2743200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UPI Lite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3401568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0A152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4015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🪙 Digital Gold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87168" y="3401568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0A152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34015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Savings Goals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90288" y="3401568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0A152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34015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🎰 Scratch Cards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93408" y="3401568"/>
            <a:ext cx="1938528" cy="502920"/>
          </a:xfrm>
          <a:prstGeom prst="roundRect">
            <a:avLst>
              <a:gd name="adj" fmla="val 18182"/>
            </a:avLst>
          </a:prstGeom>
          <a:solidFill>
            <a:srgbClr val="0A152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34015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Subscriptions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Investor Deck  •  2025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SENTINAI FRAUD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Brain Behind Every Transaction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real-time signals analyzed before every payment is approved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46120" y="1417320"/>
            <a:ext cx="2651760" cy="2651760"/>
          </a:xfrm>
          <a:prstGeom prst="ellipse">
            <a:avLst/>
          </a:prstGeom>
          <a:solidFill>
            <a:srgbClr val="002820"/>
          </a:solidFill>
          <a:ln w="19050">
            <a:solidFill>
              <a:srgbClr val="007A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1645920"/>
            <a:ext cx="2194560" cy="2194560"/>
          </a:xfrm>
          <a:prstGeom prst="ellipse">
            <a:avLst/>
          </a:prstGeom>
          <a:solidFill>
            <a:srgbClr val="003D2A"/>
          </a:solidFill>
          <a:ln w="2286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1874520"/>
            <a:ext cx="1737360" cy="1737360"/>
          </a:xfrm>
          <a:prstGeom prst="ellipse">
            <a:avLst/>
          </a:prstGeom>
          <a:solidFill>
            <a:srgbClr val="004D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459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4592" y="132588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C1D18"/>
          </a:solidFill>
          <a:ln w="12700">
            <a:solidFill>
              <a:srgbClr val="007A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1325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Geo-Velocity Fraud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" y="2359152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C1D18"/>
          </a:solidFill>
          <a:ln w="12700">
            <a:solidFill>
              <a:srgbClr val="007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2359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🤖 Bot Speed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352044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C1D18"/>
          </a:solidFill>
          <a:ln w="12700">
            <a:solidFill>
              <a:srgbClr val="007A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520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Device Trust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4279392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C1D18"/>
          </a:solidFill>
          <a:ln w="12700">
            <a:solidFill>
              <a:srgbClr val="007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42793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🌙 Odd-Hours Alert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42432" y="352044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C1D18"/>
          </a:solidFill>
          <a:ln w="12700">
            <a:solidFill>
              <a:srgbClr val="007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3520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Impulsive Spend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2359152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C1D18"/>
          </a:solidFill>
          <a:ln w="12700">
            <a:solidFill>
              <a:srgbClr val="007A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3591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High-Amount Flag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132588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C1D18"/>
          </a:solidFill>
          <a:ln w="12700">
            <a:solidFill>
              <a:srgbClr val="007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325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Payee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4590288"/>
            <a:ext cx="1938528" cy="475488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608576"/>
            <a:ext cx="19385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97.3%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" y="4846320"/>
            <a:ext cx="1938528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Accuracy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87168" y="4590288"/>
            <a:ext cx="1938528" cy="475488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4608576"/>
            <a:ext cx="19385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&lt;80ms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487168" y="4846320"/>
            <a:ext cx="1938528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90288" y="4590288"/>
            <a:ext cx="1938528" cy="475488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4608576"/>
            <a:ext cx="19385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40+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90288" y="4846320"/>
            <a:ext cx="1938528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Signals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93408" y="4590288"/>
            <a:ext cx="1938528" cy="475488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4608576"/>
            <a:ext cx="193852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93408" y="4846320"/>
            <a:ext cx="1938528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Positive Cost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UPI — DESIGNED FOR BHARAT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anyone. Just speak.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560320" y="1234440"/>
            <a:ext cx="4023360" cy="749808"/>
          </a:xfrm>
          <a:prstGeom prst="rect">
            <a:avLst/>
          </a:prstGeom>
          <a:solidFill>
            <a:srgbClr val="08111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24912" y="1527048"/>
            <a:ext cx="146304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44368" y="1435608"/>
            <a:ext cx="14630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63824" y="1362456"/>
            <a:ext cx="14630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298448"/>
            <a:ext cx="14630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2736" y="1371600"/>
            <a:ext cx="146304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22192" y="1280160"/>
            <a:ext cx="14630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41648" y="1408176"/>
            <a:ext cx="146304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1104" y="1335024"/>
            <a:ext cx="146304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463040"/>
            <a:ext cx="146304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1380744"/>
            <a:ext cx="14630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9472" y="1435608"/>
            <a:ext cx="146304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1499616"/>
            <a:ext cx="146304" cy="219456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58384" y="1417320"/>
            <a:ext cx="146304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344168"/>
            <a:ext cx="146304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97296" y="1444752"/>
            <a:ext cx="146304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1389888"/>
            <a:ext cx="14630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84832"/>
            <a:ext cx="822960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"Pay five hundred rupees to Praveen for lunch"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34440" y="2615184"/>
            <a:ext cx="2194560" cy="658368"/>
          </a:xfrm>
          <a:prstGeom prst="rect">
            <a:avLst/>
          </a:prstGeom>
          <a:solidFill>
            <a:srgbClr val="0F1724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34440" y="2907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₹500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30168" y="2615184"/>
            <a:ext cx="2194560" cy="658368"/>
          </a:xfrm>
          <a:prstGeom prst="rect">
            <a:avLst/>
          </a:prstGeom>
          <a:solidFill>
            <a:srgbClr val="0F1724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30168" y="2907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Praveen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25896" y="2615184"/>
            <a:ext cx="2194560" cy="658368"/>
          </a:xfrm>
          <a:prstGeom prst="rect">
            <a:avLst/>
          </a:prstGeom>
          <a:solidFill>
            <a:srgbClr val="0F1724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5896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25896" y="29077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Lunch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429000" y="2743200"/>
            <a:ext cx="274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24728" y="2743200"/>
            <a:ext cx="274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4320" y="3474720"/>
            <a:ext cx="2011680" cy="1508760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3383280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3611880"/>
            <a:ext cx="594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65760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Speaks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389120"/>
            <a:ext cx="18288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Hindi, Tamil or English — recognized naturally on-device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3749040"/>
            <a:ext cx="2926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450592" y="3474720"/>
            <a:ext cx="2011680" cy="1508760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27832" y="3383280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27832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496312" y="3611880"/>
            <a:ext cx="594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2542032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Parses Intent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42032" y="4389120"/>
            <a:ext cx="18288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Extracts Amount + Recipient + Note in &lt;200ms locally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79392" y="3749040"/>
            <a:ext cx="2926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626864" y="3474720"/>
            <a:ext cx="2011680" cy="1508760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04104" y="3383280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04104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72584" y="3611880"/>
            <a:ext cx="594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718304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Auto-Fills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718304" y="4389120"/>
            <a:ext cx="18288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screen pre-populated — zero typing, zero friction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455664" y="3749040"/>
            <a:ext cx="292608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803136" y="3474720"/>
            <a:ext cx="2011680" cy="1508760"/>
          </a:xfrm>
          <a:prstGeom prst="rect">
            <a:avLst/>
          </a:prstGeom>
          <a:solidFill>
            <a:srgbClr val="0F17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80376" y="3383280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0376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48856" y="3611880"/>
            <a:ext cx="5943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894576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 Clears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94576" y="4389120"/>
            <a:ext cx="18288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7-signal fraud scan still runs — voice never bypasses security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🇮🇳  300M+ low-literacy UPI users — Voice UPI removes the biggest barrier to financial inclusion: the keyboard.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solidFill>
            <a:srgbClr val="080408"/>
          </a:solidFill>
          <a:ln w="12700">
            <a:solidFill>
              <a:srgbClr val="08040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F2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UPI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640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is just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number.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8080C"/>
          </a:solidFill>
          <a:ln w="12700">
            <a:solidFill>
              <a:srgbClr val="5C0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₹5,000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8080C"/>
          </a:solidFill>
          <a:ln w="12700">
            <a:solidFill>
              <a:srgbClr val="5C0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871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PIN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45536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8080C"/>
          </a:solidFill>
          <a:ln w="12700">
            <a:solidFill>
              <a:srgbClr val="5C0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455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Done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3886200"/>
            <a:ext cx="37490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emotional cost.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is abstract, invisible, consequence-free.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24528" y="2340864"/>
            <a:ext cx="457200" cy="457200"/>
          </a:xfrm>
          <a:prstGeom prst="ellipse">
            <a:avLst/>
          </a:prstGeom>
          <a:solidFill>
            <a:srgbClr val="1A1A2A"/>
          </a:solidFill>
          <a:ln w="12700">
            <a:solidFill>
              <a:srgbClr val="30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RENOPAY NOTE SLIDER™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640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feels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physically real.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931920" cy="530352"/>
          </a:xfrm>
          <a:prstGeom prst="rect">
            <a:avLst/>
          </a:prstGeom>
          <a:solidFill>
            <a:srgbClr val="2D6A4F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28800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  ₹500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1828800"/>
            <a:ext cx="1645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drag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87168"/>
            <a:ext cx="3931920" cy="530352"/>
          </a:xfrm>
          <a:prstGeom prst="rect">
            <a:avLst/>
          </a:prstGeom>
          <a:solidFill>
            <a:srgbClr val="7B5E2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87168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  ₹200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2487168"/>
            <a:ext cx="164592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drag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45536"/>
            <a:ext cx="3931920" cy="548640"/>
          </a:xfrm>
          <a:prstGeom prst="rect">
            <a:avLst/>
          </a:prstGeom>
          <a:solidFill>
            <a:srgbClr val="6B0012"/>
          </a:solidFill>
          <a:ln w="25400">
            <a:solidFill>
              <a:srgbClr val="FF2D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455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2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₹5,000+  ●  FADING  +  HAPTIC PULSE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822192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💵 Physical drag makes spending tangible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169664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📳 Haptic vibration grows with amount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517136"/>
            <a:ext cx="4023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28% fewer impulsive transactions reported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62272" y="274320"/>
            <a:ext cx="18288" cy="4617720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Pay — Each Unique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261872"/>
            <a:ext cx="2670048" cy="3547872"/>
          </a:xfrm>
          <a:prstGeom prst="rect">
            <a:avLst/>
          </a:prstGeom>
          <a:solidFill>
            <a:srgbClr val="0F172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61872"/>
            <a:ext cx="267004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41832" y="1389888"/>
            <a:ext cx="1965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PAY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7452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recipient UPI ID / VPA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350008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amount numerically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825496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₹2000: Fingerprint instant pay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300984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value: Voice + PIN + SentinAI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776472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Lite toggle (PIN-less ≤ ₹500)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425196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Round-up change to Digital Gold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261872"/>
            <a:ext cx="2670048" cy="3547872"/>
          </a:xfrm>
          <a:prstGeom prst="rect">
            <a:avLst/>
          </a:prstGeom>
          <a:solidFill>
            <a:srgbClr val="0F1724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261872"/>
            <a:ext cx="2670048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389888"/>
            <a:ext cx="1965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 PAY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87452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 &amp; Drop SVG currency notes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350008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 coins — ₹5, ₹2, ₹1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825496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zone accumulates total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300984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SentinAI risk badge updates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776472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fade ominously above ₹5,000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425196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Haptic vibration grows with amount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1261872"/>
            <a:ext cx="2670048" cy="3547872"/>
          </a:xfrm>
          <a:prstGeom prst="rect">
            <a:avLst/>
          </a:prstGeom>
          <a:solidFill>
            <a:srgbClr val="0F1724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1261872"/>
            <a:ext cx="2670048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1371600"/>
            <a:ext cx="50292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47688" y="1389888"/>
            <a:ext cx="1965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UPI LITE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187452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wallet (max ₹2,000)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2350008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Completely PIN-less payments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2825496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up to ₹500 per txn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3300984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preset: ₹100 / ₹200 / ₹500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6208" y="3776472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Reduces bank server congestion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4251960"/>
            <a:ext cx="237744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Cleaner bank statement history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4919472"/>
            <a:ext cx="8449056" cy="16459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modes share: VPA resolution · Category tagging · SentinAI analysis · Round-up to Digital Gold · Real-time balance sync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MULTI-LAYER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6-Factor Auth — No Other UPI App Does This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solidFill>
            <a:srgbClr val="0F1724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61872"/>
            <a:ext cx="71323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70432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27632" y="1261872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VPA Resolution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261872"/>
            <a:ext cx="53035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lookup — fake VPAs blocked at source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773936"/>
            <a:ext cx="7772400" cy="457200"/>
          </a:xfrm>
          <a:prstGeom prst="rect">
            <a:avLst/>
          </a:prstGeom>
          <a:solidFill>
            <a:srgbClr val="0F1724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773936"/>
            <a:ext cx="71323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90472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🎙️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47672" y="1773936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Biometrics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773936"/>
            <a:ext cx="46634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your name — pattern-matched vs registered signature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286000"/>
            <a:ext cx="7132320" cy="457200"/>
          </a:xfrm>
          <a:prstGeom prst="rect">
            <a:avLst/>
          </a:prstGeom>
          <a:solidFill>
            <a:srgbClr val="0F172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286000"/>
            <a:ext cx="71323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1051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67712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Fingerprint 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Biometric instant-pay for ≤₹2,000 — replaces PIN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2798064"/>
            <a:ext cx="6492240" cy="457200"/>
          </a:xfrm>
          <a:prstGeom prst="rect">
            <a:avLst/>
          </a:prstGeom>
          <a:solidFill>
            <a:srgbClr val="0F1724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35608" y="2798064"/>
            <a:ext cx="71323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30552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🎲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87752" y="2798064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Shuffled PIN + Anti-Peek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43400" y="2798064"/>
            <a:ext cx="3383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Gyroscope &gt;25° tilt shuffles keypad + purple fog overlay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0" y="3310128"/>
            <a:ext cx="5852160" cy="457200"/>
          </a:xfrm>
          <a:prstGeom prst="rect">
            <a:avLst/>
          </a:prstGeom>
          <a:solidFill>
            <a:srgbClr val="0F1724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55648" y="3310128"/>
            <a:ext cx="71323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50592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07792" y="3310128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3310128"/>
            <a:ext cx="27432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4-digit code for high-risk transactions. Never stored.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3822192"/>
            <a:ext cx="5212080" cy="457200"/>
          </a:xfrm>
          <a:prstGeom prst="rect">
            <a:avLst/>
          </a:prstGeom>
          <a:solidFill>
            <a:srgbClr val="0F1724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5688" y="3822192"/>
            <a:ext cx="71323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7063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27832" y="3822192"/>
            <a:ext cx="17373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 Verdict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3822192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AI gate: 7-signal trust score in &lt;80ms — blocks even if all 5 passed.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74720" y="4462272"/>
            <a:ext cx="2194560" cy="530352"/>
          </a:xfrm>
          <a:prstGeom prst="roundRect">
            <a:avLst>
              <a:gd name="adj" fmla="val 1724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446227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TRANSACTION APPROVED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if all 5 outer layers pass — SentinAI is the final AI clearance gate.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UX INNOVATIONS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RenoPay feel different from any UPI app.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01568" y="1143000"/>
            <a:ext cx="2340864" cy="3822192"/>
          </a:xfrm>
          <a:prstGeom prst="roundRect">
            <a:avLst>
              <a:gd name="adj" fmla="val 11719"/>
            </a:avLst>
          </a:prstGeom>
          <a:solidFill>
            <a:srgbClr val="080C14"/>
          </a:solidFill>
          <a:ln w="31750">
            <a:solidFill>
              <a:srgbClr val="2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47872" y="1389888"/>
            <a:ext cx="2048256" cy="3364992"/>
          </a:xfrm>
          <a:prstGeom prst="roundRect">
            <a:avLst>
              <a:gd name="adj" fmla="val 4464"/>
            </a:avLst>
          </a:prstGeom>
          <a:solidFill>
            <a:srgbClr val="08101C"/>
          </a:solidFill>
          <a:ln w="12700">
            <a:solidFill>
              <a:srgbClr val="141E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1188720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C1428"/>
          </a:solidFill>
          <a:ln w="12700">
            <a:solidFill>
              <a:srgbClr val="0C14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75888" y="1536192"/>
            <a:ext cx="1792224" cy="292608"/>
          </a:xfrm>
          <a:prstGeom prst="rect">
            <a:avLst/>
          </a:prstGeom>
          <a:solidFill>
            <a:srgbClr val="1A3025"/>
          </a:solidFill>
          <a:ln w="12700">
            <a:solidFill>
              <a:srgbClr val="1A30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75888" y="1536192"/>
            <a:ext cx="10058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888" y="1828800"/>
            <a:ext cx="1792224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₹12,450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75888" y="2176272"/>
            <a:ext cx="1792224" cy="475488"/>
          </a:xfrm>
          <a:prstGeom prst="rect">
            <a:avLst/>
          </a:prstGeom>
          <a:solidFill>
            <a:srgbClr val="091C1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17627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💓 STABLE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75888" y="2706624"/>
            <a:ext cx="1792224" cy="960120"/>
          </a:xfrm>
          <a:prstGeom prst="rect">
            <a:avLst/>
          </a:prstGeom>
          <a:solidFill>
            <a:srgbClr val="08081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2706624"/>
            <a:ext cx="1792224" cy="960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📷 AR SCAN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🟢 Locked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75888" y="3721608"/>
            <a:ext cx="1792224" cy="384048"/>
          </a:xfrm>
          <a:prstGeom prst="rect">
            <a:avLst/>
          </a:prstGeom>
          <a:solidFill>
            <a:srgbClr val="1A12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37216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🥇 0.42g Gold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4626864"/>
            <a:ext cx="640080" cy="182880"/>
          </a:xfrm>
          <a:prstGeom prst="roundRect">
            <a:avLst>
              <a:gd name="adj" fmla="val 50000"/>
            </a:avLst>
          </a:prstGeom>
          <a:solidFill>
            <a:srgbClr val="1E2A3A"/>
          </a:solidFill>
          <a:ln w="12700">
            <a:solidFill>
              <a:srgbClr val="252F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371600"/>
            <a:ext cx="2743200" cy="74980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444752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💧 Liquid Balance Card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1737360"/>
            <a:ext cx="24688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Green→orange→red as funds deplete. Psychological spend awareness.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81528" y="1719072"/>
            <a:ext cx="347472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1572768"/>
            <a:ext cx="347472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2359152"/>
            <a:ext cx="2743200" cy="74980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32304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💓 Financial Heartbeat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724912"/>
            <a:ext cx="24688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/ Caution / Critical — real-time SentinAI emotional analysis.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81528" y="2706624"/>
            <a:ext cx="347472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2560320"/>
            <a:ext cx="347472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080760" y="1920240"/>
            <a:ext cx="2743200" cy="74980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993392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📷 AR QR Scanner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2286000"/>
            <a:ext cx="24688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 + coin rain + animated reticle phases: Scanning → Locked → Confirmed.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15000" y="2267712"/>
            <a:ext cx="347472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2121408"/>
            <a:ext cx="347472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80760" y="2907792"/>
            <a:ext cx="2743200" cy="74980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980944"/>
            <a:ext cx="2468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🪙 Digital Gold Round-Up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273552"/>
            <a:ext cx="24688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payment auto-rounds ₹10. Spare change → 24K gold vault passively.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715000" y="3255264"/>
            <a:ext cx="347472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108960"/>
            <a:ext cx="347472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&amp; REWARDS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Has a Social Layer Too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4069080" cy="157276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98448"/>
            <a:ext cx="50292" cy="15727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💌  Money Requests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Send payment requests to any UPI 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Inbox with Accept / Decline 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322576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Pending badge count on Home screen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578608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Auto-creates transaction on approval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1298448"/>
            <a:ext cx="4069080" cy="157276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1298448"/>
            <a:ext cx="50292" cy="1572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🍕  Bill Splitter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10328" y="1810512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Enter total bill + participants list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066544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Equal split calculated instantly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2322576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Mark who has already paid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10328" y="2578608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Send money requests in one tap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017520"/>
            <a:ext cx="4069080" cy="157276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017520"/>
            <a:ext cx="50292" cy="1572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🎰  Scratch Cards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3529584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Earned on ₹500+ transactions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" y="3785616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Interactive canvas scratch effect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4041648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Rewards: cashback or Digital Gold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4297680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Auto-credited to wallet on reveal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27448" y="3017520"/>
            <a:ext cx="4069080" cy="157276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7448" y="3017520"/>
            <a:ext cx="50292" cy="15727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🪙  Digital Gold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0328" y="3529584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Accumulates from round-ups each txn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0328" y="3785616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Also earned via scratch card rewards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0328" y="4041648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Shown on Home, Rewards &amp; Profile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10328" y="4297680"/>
            <a:ext cx="3657600" cy="246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Visual gold vault with live balance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solidFill>
            <a:srgbClr val="0A1218"/>
          </a:solidFill>
          <a:ln w="12700">
            <a:solidFill>
              <a:srgbClr val="0A12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"Users who feel the social aspect of money spend 35% more mindfully." — UX Research Principle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 MANAGEMENT HUB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payments. A complete financial universe.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298448"/>
            <a:ext cx="4069080" cy="1664208"/>
          </a:xfrm>
          <a:prstGeom prst="rect">
            <a:avLst/>
          </a:prstGeom>
          <a:solidFill>
            <a:srgbClr val="0F1724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Smart Expense Tracker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Week / Month / All-time views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Category breakdown with % bars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Budget alert at 80% spend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Tap-to-filter by category tag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298448"/>
            <a:ext cx="4069080" cy="1664208"/>
          </a:xfrm>
          <a:prstGeom prst="rect">
            <a:avLst/>
          </a:prstGeom>
          <a:solidFill>
            <a:srgbClr val="0F1724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🗺️  Treasure Map Savings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Gamified goals with hero avatar journey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4 milestones: 25 / 50 / 75 / 100%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Multiple concurrent goals supported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Achievement badge on completion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108960"/>
            <a:ext cx="4069080" cy="1664208"/>
          </a:xfrm>
          <a:prstGeom prst="rect">
            <a:avLst/>
          </a:prstGeom>
          <a:solidFill>
            <a:srgbClr val="0F172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Subscription Manager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Netflix, Spotify, AWS pre-loaded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Monthly/Quarterly/Yearly cycles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Due-in-N-days alert badge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Pause / Resume with one tap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27448" y="3108960"/>
            <a:ext cx="4069080" cy="1664208"/>
          </a:xfrm>
          <a:prstGeom prst="rect">
            <a:avLst/>
          </a:prstGeom>
          <a:solidFill>
            <a:srgbClr val="0F1724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🔁  Smart Mandates (AutoPay 2.0)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View all UPI autopay mandates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Per-mandate spending limits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Individual mandate pause/resume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Next payment date countdown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&amp; Backend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207008"/>
            <a:ext cx="3977640" cy="3767328"/>
          </a:xfrm>
          <a:prstGeom prst="rect">
            <a:avLst/>
          </a:prstGeom>
          <a:solidFill>
            <a:srgbClr val="0F172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98448"/>
            <a:ext cx="35204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⚛ 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792224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⚛ React / JSX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048256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Component-based UI: useState, useEffect, useRef, useCallback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CSS-in-JS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651760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theming — zero external CSS library dependency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999232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✍ Outfit + Space Mono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255264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typography — Outfit headers, Space Mono for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602736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🖼 SVG Currency Notes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858768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₹500 ₹200 ₹100 ₹50 ₹20 ₹10 notes + ₹5 ₹2 ₹1 coins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Mobile-First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462272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430px viewport · touch events · Device Orientation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15968" y="2560320"/>
            <a:ext cx="512064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15968" y="3063240"/>
            <a:ext cx="51206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207008"/>
            <a:ext cx="3977640" cy="3767328"/>
          </a:xfrm>
          <a:prstGeom prst="rect">
            <a:avLst/>
          </a:prstGeom>
          <a:solidFill>
            <a:srgbClr val="0F1724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1298448"/>
            <a:ext cx="36118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🗄  BACKEND / 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47488" y="1792224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🗃 In-Memory 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47488" y="2048256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Users, accounts, transactions, subscriptions, savings goals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47488" y="2395728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DatabaseService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2651760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 pure JS functions: registerUser, sendMoney, addToSavings…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47488" y="2999232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📡 MockBackend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3255264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Simulates OTP verify, VPA resolution, PIN check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47488" y="3602736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SentinAI Engine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3858768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7-signal fraud + burn rate → month-end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47488" y="4206240"/>
            <a:ext cx="36118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Virtual Account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47488" y="4462272"/>
            <a:ext cx="3611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Auto-generates VPA, A/c No, IFSC RAZR0000001 at registration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 TRANSACTION 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under the hood. Simple on the surface.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1417320"/>
            <a:ext cx="1572768" cy="1965960"/>
          </a:xfrm>
          <a:prstGeom prst="rect">
            <a:avLst/>
          </a:prstGeom>
          <a:solidFill>
            <a:srgbClr val="0F172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316736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517904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🎙️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" y="2212848"/>
            <a:ext cx="157276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Intent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65376" y="2212848"/>
            <a:ext cx="201168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48256" y="1417320"/>
            <a:ext cx="1572768" cy="1965960"/>
          </a:xfrm>
          <a:prstGeom prst="rect">
            <a:avLst/>
          </a:prstGeom>
          <a:solidFill>
            <a:srgbClr val="0F1724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1316736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48256" y="1517904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048256" y="2212848"/>
            <a:ext cx="157276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Scans 40+ Signals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21024" y="2212848"/>
            <a:ext cx="201168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3904" y="1417320"/>
            <a:ext cx="1572768" cy="1965960"/>
          </a:xfrm>
          <a:prstGeom prst="rect">
            <a:avLst/>
          </a:prstGeom>
          <a:solidFill>
            <a:srgbClr val="0F1724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316736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03904" y="1517904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💸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03904" y="2212848"/>
            <a:ext cx="157276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Slider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76672" y="2212848"/>
            <a:ext cx="201168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59552" y="1417320"/>
            <a:ext cx="1572768" cy="1965960"/>
          </a:xfrm>
          <a:prstGeom prst="rect">
            <a:avLst/>
          </a:prstGeom>
          <a:solidFill>
            <a:srgbClr val="0F17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1316736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59552" y="1517904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👆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59552" y="2212848"/>
            <a:ext cx="157276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Biometric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212848"/>
            <a:ext cx="201168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0" y="1417320"/>
            <a:ext cx="1572768" cy="1965960"/>
          </a:xfrm>
          <a:prstGeom prst="rect">
            <a:avLst/>
          </a:prstGeom>
          <a:solidFill>
            <a:srgbClr val="0F1724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0416" y="1316736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0416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1517904"/>
            <a:ext cx="157276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🥇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315200" y="2212848"/>
            <a:ext cx="1572768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Gold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Round-Up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" y="3566160"/>
            <a:ext cx="8449056" cy="1389888"/>
          </a:xfrm>
          <a:prstGeom prst="rect">
            <a:avLst/>
          </a:prstGeom>
          <a:solidFill>
            <a:srgbClr val="08111E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" y="3950208"/>
            <a:ext cx="4114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⚛ React / JSX Frontend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82896" y="3950208"/>
            <a:ext cx="4114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🗃 In-Memory DB (30+ functions)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" y="4389120"/>
            <a:ext cx="4114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📡 MockBackend API Contract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82896" y="4389120"/>
            <a:ext cx="41148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SentinAI Engine (7 signals)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transaction is a full roundtrip through this stack — in under 300ms.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REAL PEOPLE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personas. Two powerful interventions.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261872"/>
            <a:ext cx="4069080" cy="3657600"/>
          </a:xfrm>
          <a:prstGeom prst="rect">
            <a:avLst/>
          </a:prstGeom>
          <a:solidFill>
            <a:srgbClr val="0F172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115568"/>
            <a:ext cx="987552" cy="987552"/>
          </a:xfrm>
          <a:prstGeom prst="ellipse">
            <a:avLst/>
          </a:prstGeom>
          <a:solidFill>
            <a:srgbClr val="0C203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115568"/>
            <a:ext cx="987552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👨‍🌾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Raju, 34 — Tier-2 city shopkeeper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749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Speaks Hindi first. Struggles with English-only UPI apps. Often makes errors typing recipient IDs. Distrusts fintech.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218688"/>
            <a:ext cx="3749040" cy="475488"/>
          </a:xfrm>
          <a:prstGeom prst="rect">
            <a:avLst/>
          </a:prstGeom>
          <a:solidFill>
            <a:srgbClr val="09182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18688"/>
            <a:ext cx="3566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🎙 "Praveen ko paanch sau bhejo lunch ke liye"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3749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UPI parses Hindi → auto-fills form → SentinAI clears → done. Zero typing required.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315968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of UPI users are like Raju.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27448" y="1261872"/>
            <a:ext cx="4069080" cy="3657600"/>
          </a:xfrm>
          <a:prstGeom prst="rect">
            <a:avLst/>
          </a:prstGeom>
          <a:solidFill>
            <a:srgbClr val="0F1724"/>
          </a:solidFill>
          <a:ln w="19050">
            <a:solidFill>
              <a:srgbClr val="FF2D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14416" y="1115568"/>
            <a:ext cx="987552" cy="987552"/>
          </a:xfrm>
          <a:prstGeom prst="ellipse">
            <a:avLst/>
          </a:prstGeom>
          <a:solidFill>
            <a:srgbClr val="200810"/>
          </a:solidFill>
          <a:ln w="25400">
            <a:solidFill>
              <a:srgbClr val="FF2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4416" y="1115568"/>
            <a:ext cx="987552" cy="9875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💸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882896" y="2176272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Priya, 27 — urban millennial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82896" y="2542032"/>
            <a:ext cx="3749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Earns well, overspends habitually. Has never felt the pain of large UPI transfers. Money feels consequence-free.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82896" y="3218688"/>
            <a:ext cx="3749040" cy="475488"/>
          </a:xfrm>
          <a:prstGeom prst="rect">
            <a:avLst/>
          </a:prstGeom>
          <a:solidFill>
            <a:srgbClr val="1A0508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3218688"/>
            <a:ext cx="35661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2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💸 Drags ₹5,000 → screen turns red → haptic vibration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82896" y="3749040"/>
            <a:ext cx="37490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"Pain of Giving" UX triggers behavioral pause. Notes fade. Physical drag = emotional cost = mindful decision.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82896" y="4315968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FF2D55"/>
          </a:solidFill>
          <a:ln w="12700">
            <a:solidFill>
              <a:srgbClr val="FF2D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 fewer impulsive transactions reported.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 is the ONLY app combining all 7 dimensions.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2487168" cy="438912"/>
          </a:xfrm>
          <a:prstGeom prst="rect">
            <a:avLst/>
          </a:prstGeom>
          <a:solidFill>
            <a:srgbClr val="101A28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117043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8920" y="1170432"/>
            <a:ext cx="1078992" cy="438912"/>
          </a:xfrm>
          <a:prstGeom prst="rect">
            <a:avLst/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1704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13632" y="1170432"/>
            <a:ext cx="1078992" cy="438912"/>
          </a:xfrm>
          <a:prstGeom prst="rect">
            <a:avLst/>
          </a:prstGeom>
          <a:solidFill>
            <a:srgbClr val="101A28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11704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7488" y="1170432"/>
            <a:ext cx="1143000" cy="438912"/>
          </a:xfrm>
          <a:prstGeom prst="rect">
            <a:avLst/>
          </a:prstGeom>
          <a:solidFill>
            <a:srgbClr val="101A28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11704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Pay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6208" y="1170432"/>
            <a:ext cx="1078992" cy="438912"/>
          </a:xfrm>
          <a:prstGeom prst="rect">
            <a:avLst/>
          </a:prstGeom>
          <a:solidFill>
            <a:srgbClr val="101A28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1704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60920" y="1170432"/>
            <a:ext cx="1078992" cy="438912"/>
          </a:xfrm>
          <a:prstGeom prst="rect">
            <a:avLst/>
          </a:prstGeom>
          <a:solidFill>
            <a:srgbClr val="101A28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117043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Paytm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664208"/>
            <a:ext cx="2487168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664208"/>
            <a:ext cx="2487168" cy="42062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Fraud Prevention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1664208"/>
            <a:ext cx="1078992" cy="420624"/>
          </a:xfrm>
          <a:prstGeom prst="rect">
            <a:avLst/>
          </a:prstGeom>
          <a:solidFill>
            <a:srgbClr val="0C1E1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66420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13632" y="1664208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166420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47488" y="1664208"/>
            <a:ext cx="1143000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166420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36208" y="1664208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66420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60920" y="1664208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66420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56032" y="2103120"/>
            <a:ext cx="2487168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103120"/>
            <a:ext cx="2487168" cy="42062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AI &amp; Predictions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2103120"/>
            <a:ext cx="1078992" cy="420624"/>
          </a:xfrm>
          <a:prstGeom prst="rect">
            <a:avLst/>
          </a:prstGeom>
          <a:solidFill>
            <a:srgbClr val="0C1E1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10312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913632" y="2103120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3632" y="210312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47488" y="2103120"/>
            <a:ext cx="1143000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210312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36208" y="2103120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10312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60920" y="2103120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60920" y="210312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56032" y="2542032"/>
            <a:ext cx="2487168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2542032"/>
            <a:ext cx="2487168" cy="42062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Gamified Savings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88920" y="2542032"/>
            <a:ext cx="1078992" cy="420624"/>
          </a:xfrm>
          <a:prstGeom prst="rect">
            <a:avLst/>
          </a:prstGeom>
          <a:solidFill>
            <a:srgbClr val="0C1E1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25420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913632" y="2542032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13632" y="25420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47488" y="2542032"/>
            <a:ext cx="1143000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7488" y="254203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36208" y="2542032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25420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360920" y="2542032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0920" y="2542032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56032" y="2980944"/>
            <a:ext cx="2487168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2980944"/>
            <a:ext cx="2487168" cy="42062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Gold Round-ups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88920" y="2980944"/>
            <a:ext cx="1078992" cy="420624"/>
          </a:xfrm>
          <a:prstGeom prst="rect">
            <a:avLst/>
          </a:prstGeom>
          <a:solidFill>
            <a:srgbClr val="0C1E1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88920" y="2980944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913632" y="2980944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13632" y="2980944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047488" y="2980944"/>
            <a:ext cx="1143000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47488" y="298094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236208" y="2980944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36208" y="2980944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360920" y="2980944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60920" y="2980944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56032" y="3419856"/>
            <a:ext cx="2487168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" y="3419856"/>
            <a:ext cx="2487168" cy="42062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AI Chat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88920" y="3419856"/>
            <a:ext cx="1078992" cy="420624"/>
          </a:xfrm>
          <a:prstGeom prst="rect">
            <a:avLst/>
          </a:prstGeom>
          <a:solidFill>
            <a:srgbClr val="0C1E1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88920" y="341985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913632" y="3419856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13632" y="341985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047488" y="3419856"/>
            <a:ext cx="1143000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47488" y="341985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236208" y="3419856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36208" y="341985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360920" y="3419856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60920" y="341985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256032" y="3858768"/>
            <a:ext cx="2487168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6032" y="3858768"/>
            <a:ext cx="2487168" cy="42062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PIN-less Micro Payments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788920" y="3858768"/>
            <a:ext cx="1078992" cy="420624"/>
          </a:xfrm>
          <a:prstGeom prst="rect">
            <a:avLst/>
          </a:prstGeom>
          <a:solidFill>
            <a:srgbClr val="0C1E1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88920" y="385876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3913632" y="3858768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13632" y="385876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047488" y="3858768"/>
            <a:ext cx="1143000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47488" y="385876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6236208" y="3858768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36208" y="385876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7360920" y="3858768"/>
            <a:ext cx="1078992" cy="42062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60920" y="3858768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256032" y="4297680"/>
            <a:ext cx="2487168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56032" y="4297680"/>
            <a:ext cx="2487168" cy="420624"/>
          </a:xfrm>
          <a:prstGeom prst="rect">
            <a:avLst/>
          </a:prstGeom>
          <a:noFill/>
          <a:ln/>
        </p:spPr>
        <p:txBody>
          <a:bodyPr wrap="square" lIns="88900" tIns="88900" rIns="88900" bIns="889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Health Score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788920" y="4297680"/>
            <a:ext cx="1078992" cy="420624"/>
          </a:xfrm>
          <a:prstGeom prst="rect">
            <a:avLst/>
          </a:prstGeom>
          <a:solidFill>
            <a:srgbClr val="0C1E1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88920" y="429768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3913632" y="4297680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913632" y="429768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047488" y="4297680"/>
            <a:ext cx="1143000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47488" y="42976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6236208" y="4297680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36208" y="429768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7360920" y="4297680"/>
            <a:ext cx="1078992" cy="42062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60920" y="429768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4A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256032" y="4809744"/>
            <a:ext cx="8631936" cy="274320"/>
          </a:xfrm>
          <a:prstGeom prst="roundRect">
            <a:avLst>
              <a:gd name="adj" fmla="val 26667"/>
            </a:avLst>
          </a:prstGeom>
          <a:solidFill>
            <a:srgbClr val="081018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5760" y="48097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RenoPay is the ONLY app combining all 7 dimensions in a single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RenoPay Stands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377440" cy="384048"/>
          </a:xfrm>
          <a:prstGeom prst="rect">
            <a:avLst/>
          </a:prstGeom>
          <a:solidFill>
            <a:srgbClr val="0F1C2C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24912" y="1170432"/>
            <a:ext cx="2880360" cy="384048"/>
          </a:xfrm>
          <a:prstGeom prst="rect">
            <a:avLst/>
          </a:prstGeom>
          <a:solidFill>
            <a:srgbClr val="180810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23560" y="1170432"/>
            <a:ext cx="3200400" cy="384048"/>
          </a:xfrm>
          <a:prstGeom prst="rect">
            <a:avLst/>
          </a:prstGeom>
          <a:solidFill>
            <a:srgbClr val="081820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24912" y="11704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2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UPI Apps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0" y="11704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2377440" cy="32918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600200"/>
            <a:ext cx="2880360" cy="329184"/>
          </a:xfrm>
          <a:prstGeom prst="rect">
            <a:avLst/>
          </a:prstGeom>
          <a:solidFill>
            <a:srgbClr val="12060A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1600200"/>
            <a:ext cx="3200400" cy="329184"/>
          </a:xfrm>
          <a:prstGeom prst="rect">
            <a:avLst/>
          </a:prstGeom>
          <a:solidFill>
            <a:srgbClr val="091420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00200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Detection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1600200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UPI PIN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87568" y="1600200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SentinAI: 7-signal real-time AI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2377440" cy="32918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24912" y="1947672"/>
            <a:ext cx="2880360" cy="329184"/>
          </a:xfrm>
          <a:prstGeom prst="rect">
            <a:avLst/>
          </a:prstGeom>
          <a:solidFill>
            <a:srgbClr val="15080C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947672"/>
            <a:ext cx="3200400" cy="329184"/>
          </a:xfrm>
          <a:prstGeom prst="rect">
            <a:avLst/>
          </a:prstGeom>
          <a:solidFill>
            <a:srgbClr val="0C182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947672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Layers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88920" y="1947672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 (PIN/OTP)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87568" y="1947672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6-factor: Voice + FP + PIN + Privacy + Device + 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295144"/>
            <a:ext cx="2377440" cy="32918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24912" y="2295144"/>
            <a:ext cx="2880360" cy="329184"/>
          </a:xfrm>
          <a:prstGeom prst="rect">
            <a:avLst/>
          </a:prstGeom>
          <a:solidFill>
            <a:srgbClr val="12060A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295144"/>
            <a:ext cx="3200400" cy="329184"/>
          </a:xfrm>
          <a:prstGeom prst="rect">
            <a:avLst/>
          </a:prstGeom>
          <a:solidFill>
            <a:srgbClr val="091420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295144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UX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88920" y="2295144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amount → PIN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87568" y="2295144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 notes/coins — "pain of giving" sensation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642616"/>
            <a:ext cx="2377440" cy="32918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24912" y="2642616"/>
            <a:ext cx="2880360" cy="329184"/>
          </a:xfrm>
          <a:prstGeom prst="rect">
            <a:avLst/>
          </a:prstGeom>
          <a:solidFill>
            <a:srgbClr val="15080C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2642616"/>
            <a:ext cx="3200400" cy="329184"/>
          </a:xfrm>
          <a:prstGeom prst="rect">
            <a:avLst/>
          </a:prstGeom>
          <a:solidFill>
            <a:srgbClr val="0C182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642616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Display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88920" y="2642616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number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87568" y="2642616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Animated liquid fill with color psychology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990088"/>
            <a:ext cx="2377440" cy="32918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24912" y="2990088"/>
            <a:ext cx="2880360" cy="329184"/>
          </a:xfrm>
          <a:prstGeom prst="rect">
            <a:avLst/>
          </a:prstGeom>
          <a:solidFill>
            <a:srgbClr val="12060A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23560" y="2990088"/>
            <a:ext cx="3200400" cy="329184"/>
          </a:xfrm>
          <a:prstGeom prst="rect">
            <a:avLst/>
          </a:prstGeom>
          <a:solidFill>
            <a:srgbClr val="091420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990088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Command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88920" y="2990088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87568" y="2990088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NLP intent: "Pay ₹500 to Praveen for lunch"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337560"/>
            <a:ext cx="2377440" cy="32918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24912" y="3337560"/>
            <a:ext cx="2880360" cy="329184"/>
          </a:xfrm>
          <a:prstGeom prst="rect">
            <a:avLst/>
          </a:prstGeom>
          <a:solidFill>
            <a:srgbClr val="15080C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23560" y="3337560"/>
            <a:ext cx="3200400" cy="329184"/>
          </a:xfrm>
          <a:prstGeom prst="rect">
            <a:avLst/>
          </a:prstGeom>
          <a:solidFill>
            <a:srgbClr val="0C182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337560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QR Scanner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88920" y="3337560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camera scan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87568" y="3337560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 grid, coin rain, animated reticle phases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3685032"/>
            <a:ext cx="2377440" cy="32918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24912" y="3685032"/>
            <a:ext cx="2880360" cy="329184"/>
          </a:xfrm>
          <a:prstGeom prst="rect">
            <a:avLst/>
          </a:prstGeom>
          <a:solidFill>
            <a:srgbClr val="12060A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23560" y="3685032"/>
            <a:ext cx="3200400" cy="329184"/>
          </a:xfrm>
          <a:prstGeom prst="rect">
            <a:avLst/>
          </a:prstGeom>
          <a:solidFill>
            <a:srgbClr val="091420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685032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Spending Insights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788920" y="3685032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Post-transaction only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87568" y="3685032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burn rate + month-end fund prediction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032504"/>
            <a:ext cx="2377440" cy="32918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24912" y="4032504"/>
            <a:ext cx="2880360" cy="329184"/>
          </a:xfrm>
          <a:prstGeom prst="rect">
            <a:avLst/>
          </a:prstGeom>
          <a:solidFill>
            <a:srgbClr val="15080C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623560" y="4032504"/>
            <a:ext cx="3200400" cy="329184"/>
          </a:xfrm>
          <a:prstGeom prst="rect">
            <a:avLst/>
          </a:prstGeom>
          <a:solidFill>
            <a:srgbClr val="0C182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032504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88920" y="4032504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RD/FD link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687568" y="4032504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Treasure Map gamification with hero avatar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4379976"/>
            <a:ext cx="2377440" cy="329184"/>
          </a:xfrm>
          <a:prstGeom prst="rect">
            <a:avLst/>
          </a:prstGeom>
          <a:solidFill>
            <a:srgbClr val="0F1724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24912" y="4379976"/>
            <a:ext cx="2880360" cy="329184"/>
          </a:xfrm>
          <a:prstGeom prst="rect">
            <a:avLst/>
          </a:prstGeom>
          <a:solidFill>
            <a:srgbClr val="12060A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23560" y="4379976"/>
            <a:ext cx="3200400" cy="329184"/>
          </a:xfrm>
          <a:prstGeom prst="rect">
            <a:avLst/>
          </a:prstGeom>
          <a:solidFill>
            <a:srgbClr val="091420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379976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88920" y="4379976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points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87568" y="4379976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scratch card canvas + Digital Gold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4727448"/>
            <a:ext cx="2377440" cy="329184"/>
          </a:xfrm>
          <a:prstGeom prst="rect">
            <a:avLst/>
          </a:prstGeom>
          <a:solidFill>
            <a:srgbClr val="131E2E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24912" y="4727448"/>
            <a:ext cx="2880360" cy="329184"/>
          </a:xfrm>
          <a:prstGeom prst="rect">
            <a:avLst/>
          </a:prstGeom>
          <a:solidFill>
            <a:srgbClr val="15080C"/>
          </a:solidFill>
          <a:ln w="6350">
            <a:solidFill>
              <a:srgbClr val="5C0A1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623560" y="4727448"/>
            <a:ext cx="3200400" cy="329184"/>
          </a:xfrm>
          <a:prstGeom prst="rect">
            <a:avLst/>
          </a:prstGeom>
          <a:solidFill>
            <a:srgbClr val="0C1824"/>
          </a:solidFill>
          <a:ln w="6350">
            <a:solidFill>
              <a:srgbClr val="007A6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727448"/>
            <a:ext cx="21945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View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788920" y="4727448"/>
            <a:ext cx="272491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687568" y="4727448"/>
            <a:ext cx="307238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Double-entry ledger, T-accounts, Dev Mode toggle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FinTech is at an Inflection Point.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170432"/>
            <a:ext cx="4389120" cy="3822192"/>
          </a:xfrm>
          <a:prstGeom prst="ellipse">
            <a:avLst/>
          </a:prstGeom>
          <a:solidFill>
            <a:srgbClr val="07152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664208"/>
            <a:ext cx="3017520" cy="2834640"/>
          </a:xfrm>
          <a:prstGeom prst="ellipse">
            <a:avLst/>
          </a:prstGeom>
          <a:solidFill>
            <a:srgbClr val="0A1C2C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176272"/>
            <a:ext cx="1645920" cy="1810512"/>
          </a:xfrm>
          <a:prstGeom prst="ellipse">
            <a:avLst/>
          </a:prstGeom>
          <a:solidFill>
            <a:srgbClr val="0C261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43891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₹50B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19072"/>
            <a:ext cx="3017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₹18B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2651760"/>
            <a:ext cx="164592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₹3B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1170432"/>
            <a:ext cx="3310128" cy="822960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170432"/>
            <a:ext cx="50292" cy="8229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1207008"/>
            <a:ext cx="138988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500M+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59168" y="1234440"/>
            <a:ext cx="1600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UPI Users in India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59168" y="1499616"/>
            <a:ext cx="1600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35% YoY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2130552"/>
            <a:ext cx="3310128" cy="822960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2130552"/>
            <a:ext cx="50292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2167128"/>
            <a:ext cx="138988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12B+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59168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UPI Transactions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59168" y="2459736"/>
            <a:ext cx="1600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₹20T+ monthly volume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3090672"/>
            <a:ext cx="3310128" cy="822960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3090672"/>
            <a:ext cx="50292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3127248"/>
            <a:ext cx="138988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59168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Lack financial literacy 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59168" y="3419856"/>
            <a:ext cx="1600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 underserved segment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4050792"/>
            <a:ext cx="3310128" cy="822960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4050792"/>
            <a:ext cx="5029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4087368"/>
            <a:ext cx="1389888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₹200T+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59168" y="4114800"/>
            <a:ext cx="1600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volume expected by 2027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59168" y="4379976"/>
            <a:ext cx="16002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$1T digital economy target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4846320"/>
            <a:ext cx="8449056" cy="201168"/>
          </a:xfrm>
          <a:prstGeom prst="rect">
            <a:avLst/>
          </a:prstGeom>
          <a:solidFill>
            <a:srgbClr val="070F1C"/>
          </a:solidFill>
          <a:ln w="12700">
            <a:solidFill>
              <a:srgbClr val="070F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RENOPAY WINS: AI fraud prevention · Budget prediction · Built for Bharat · Voice-first UX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every Indian with financial control.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261872"/>
            <a:ext cx="2651760" cy="896112"/>
          </a:xfrm>
          <a:prstGeom prst="rect">
            <a:avLst/>
          </a:prstGeom>
          <a:solidFill>
            <a:srgbClr val="0F1724"/>
          </a:solidFill>
          <a:ln w="12700">
            <a:solidFill>
              <a:srgbClr val="5C0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2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500M+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" y="1773936"/>
            <a:ext cx="26517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Unserved UPI Users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261872"/>
            <a:ext cx="2651760" cy="896112"/>
          </a:xfrm>
          <a:prstGeom prst="rect">
            <a:avLst/>
          </a:prstGeom>
          <a:solidFill>
            <a:srgbClr val="0F1724"/>
          </a:solidFill>
          <a:ln w="12700">
            <a:solidFill>
              <a:srgbClr val="5C0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2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₹2.4L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1773936"/>
            <a:ext cx="26517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to Impulse Spending/yr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16752" y="1261872"/>
            <a:ext cx="2651760" cy="896112"/>
          </a:xfrm>
          <a:prstGeom prst="rect">
            <a:avLst/>
          </a:prstGeom>
          <a:solidFill>
            <a:srgbClr val="0F1724"/>
          </a:solidFill>
          <a:ln w="12700">
            <a:solidFill>
              <a:srgbClr val="5C0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1298448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2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16752" y="1773936"/>
            <a:ext cx="26517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Indians Lack Budget Awareness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267712"/>
            <a:ext cx="7315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 brings AI-powered financial clarity to 1.4 billion people.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2743200"/>
            <a:ext cx="1938528" cy="2121408"/>
          </a:xfrm>
          <a:prstGeom prst="rect">
            <a:avLst/>
          </a:prstGeom>
          <a:solidFill>
            <a:srgbClr val="0F1724"/>
          </a:solidFill>
          <a:ln w="15240">
            <a:solidFill>
              <a:srgbClr val="FF2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816352"/>
            <a:ext cx="193852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84048" y="3383280"/>
            <a:ext cx="193852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D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 Prevention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17190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 protects low-literacy users from scams &amp; social engineering in real time.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87168" y="2743200"/>
            <a:ext cx="1938528" cy="2121408"/>
          </a:xfrm>
          <a:prstGeom prst="rect">
            <a:avLst/>
          </a:prstGeom>
          <a:solidFill>
            <a:srgbClr val="0F1724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2816352"/>
            <a:ext cx="193852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487168" y="3383280"/>
            <a:ext cx="193852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Vernacular Access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06040" y="3749040"/>
            <a:ext cx="17190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i18n — Hindi, Tamil, English — reaching Bharat, not just metros.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0288" y="2743200"/>
            <a:ext cx="1938528" cy="2121408"/>
          </a:xfrm>
          <a:prstGeom prst="rect">
            <a:avLst/>
          </a:prstGeom>
          <a:solidFill>
            <a:srgbClr val="0F1724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2816352"/>
            <a:ext cx="193852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90288" y="3383280"/>
            <a:ext cx="193852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Literacy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749040"/>
            <a:ext cx="17190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Burn-rate alerts &amp; predictive budgeting make savings intuitive for first-timers.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93408" y="2743200"/>
            <a:ext cx="1938528" cy="2121408"/>
          </a:xfrm>
          <a:prstGeom prst="rect">
            <a:avLst/>
          </a:prstGeom>
          <a:solidFill>
            <a:srgbClr val="0F1724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816352"/>
            <a:ext cx="1938528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♿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693408" y="3383280"/>
            <a:ext cx="193852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Inclusive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749040"/>
            <a:ext cx="1719072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commands + PIN-less UPI Lite — for elderly, differently-abled users.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 — redefining financial inclusion for the next billion users.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Diversified, scalable, aligned with user success.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47472" y="1170432"/>
          <a:ext cx="4023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170432"/>
            <a:ext cx="4224528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0" y="1170432"/>
            <a:ext cx="50292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36592" y="1225296"/>
            <a:ext cx="2286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👑 Premium Subscription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95160" y="1225296"/>
            <a:ext cx="1645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₹99/mo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36592" y="1490472"/>
            <a:ext cx="39136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of MAU target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0" y="1792224"/>
            <a:ext cx="4224528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792224"/>
            <a:ext cx="50292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Transaction Interchange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95160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36592" y="2112264"/>
            <a:ext cx="39136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₹3.2 Cr/mo at 1M users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0" y="2414016"/>
            <a:ext cx="4224528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2414016"/>
            <a:ext cx="50292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6592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🥇 Digital Gold Spread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9516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0.5% spread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36592" y="2734056"/>
            <a:ext cx="39136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₹80L/month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0" y="3035808"/>
            <a:ext cx="4224528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3035808"/>
            <a:ext cx="50292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36592" y="3090672"/>
            <a:ext cx="2286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MF Distribution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995160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1% trail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36592" y="3355848"/>
            <a:ext cx="39136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₹1.5 Cr AUM/month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0" y="3657600"/>
            <a:ext cx="4224528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0" y="3657600"/>
            <a:ext cx="50292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3712464"/>
            <a:ext cx="2286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BNPL &amp; Lending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995160" y="3712464"/>
            <a:ext cx="1645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2–4% fee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736592" y="3977640"/>
            <a:ext cx="39136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Pipeline: Q3 2025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72000" y="4279392"/>
            <a:ext cx="4224528" cy="566928"/>
          </a:xfrm>
          <a:prstGeom prst="rect">
            <a:avLst/>
          </a:prstGeom>
          <a:solidFill>
            <a:srgbClr val="0F1724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0" y="4279392"/>
            <a:ext cx="5029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36592" y="4334256"/>
            <a:ext cx="22860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B2B Insights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995160" y="4334256"/>
            <a:ext cx="16459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₹5L/client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736592" y="4599432"/>
            <a:ext cx="3913632" cy="201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LOIs signed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 One mission. A billion users.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2834640"/>
            <a:ext cx="2633472" cy="2148840"/>
          </a:xfrm>
          <a:prstGeom prst="rect">
            <a:avLst/>
          </a:prstGeom>
          <a:solidFill>
            <a:srgbClr val="0F172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834640"/>
            <a:ext cx="2633472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2962656"/>
            <a:ext cx="235915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4632" y="3218688"/>
            <a:ext cx="235915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Q1–Q2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" y="3493008"/>
            <a:ext cx="235915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the Metros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3913632"/>
            <a:ext cx="2359152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Campus ambassador — 20 tier-1 cities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4389120"/>
            <a:ext cx="2359152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₹50 cashback on first 3 txns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4864608"/>
            <a:ext cx="2359152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Product Hunt fintech launch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" y="4453128"/>
            <a:ext cx="2487168" cy="438912"/>
          </a:xfrm>
          <a:prstGeom prst="roundRect">
            <a:avLst>
              <a:gd name="adj" fmla="val 1458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44531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2L downloads  ·  60K MAU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27248" y="2084832"/>
            <a:ext cx="2633472" cy="2898648"/>
          </a:xfrm>
          <a:prstGeom prst="rect">
            <a:avLst/>
          </a:prstGeom>
          <a:solidFill>
            <a:srgbClr val="0F1724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2084832"/>
            <a:ext cx="2633472" cy="914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2212848"/>
            <a:ext cx="235915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2468880"/>
            <a:ext cx="235915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Q3–Q4 2025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2743200"/>
            <a:ext cx="2359152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Bharat Push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64408" y="3163824"/>
            <a:ext cx="2359152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Regional influencer collabs — Hindi &amp; Tamil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3639312"/>
            <a:ext cx="2359152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Kirana store QR stickers + merchant wallets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4114800"/>
            <a:ext cx="2359152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Google UAC targeting tier-2/3 cities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4453128"/>
            <a:ext cx="2487168" cy="438912"/>
          </a:xfrm>
          <a:prstGeom prst="roundRect">
            <a:avLst>
              <a:gd name="adj" fmla="val 14583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44531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15L downloads  ·  4L MAU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25312" y="1051560"/>
            <a:ext cx="2871216" cy="3931920"/>
          </a:xfrm>
          <a:prstGeom prst="rect">
            <a:avLst/>
          </a:prstGeom>
          <a:solidFill>
            <a:srgbClr val="0F17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25312" y="1051560"/>
            <a:ext cx="2871216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1179576"/>
            <a:ext cx="2596896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62472" y="1435608"/>
            <a:ext cx="2596896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62472" y="1709928"/>
            <a:ext cx="2596896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Lock-In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062472" y="2130552"/>
            <a:ext cx="2596896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NBFC credit line drives stickiness (lending &gt; payments)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62472" y="2606040"/>
            <a:ext cx="2596896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B2B white-label SentinAI to co-op banks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62472" y="3081528"/>
            <a:ext cx="2596896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WhatsApp Business API for voice payments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98464" y="4453128"/>
            <a:ext cx="2724912" cy="438912"/>
          </a:xfrm>
          <a:prstGeom prst="roundRect">
            <a:avLst>
              <a:gd name="adj" fmla="val 1458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98464" y="4453128"/>
            <a:ext cx="2724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1Cr downloads  ·  25L MAU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5001768"/>
            <a:ext cx="8449056" cy="2743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Shipped. Building. Planned. Visioned.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011680" cy="3675888"/>
          </a:xfrm>
          <a:prstGeom prst="rect">
            <a:avLst/>
          </a:prstGeom>
          <a:solidFill>
            <a:srgbClr val="0F17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61872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71600"/>
            <a:ext cx="17922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2025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SHIPPED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202996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 v1 (7 signals)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57860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UPI (Hindi/Tamil)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12724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Slider UX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367588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Gold Round-ups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422452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 QR Scanner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261872"/>
            <a:ext cx="2011680" cy="3675888"/>
          </a:xfrm>
          <a:prstGeom prst="rect">
            <a:avLst/>
          </a:prstGeom>
          <a:solidFill>
            <a:srgbClr val="0F1724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261872"/>
            <a:ext cx="201168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371600"/>
            <a:ext cx="17922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🔄 IN PROGRESS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202996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 App (TestFlight)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608" y="257860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Reno-Bot GPT-4o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78608" y="312724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AMFI MF Distribution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78608" y="367588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 Splitter 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78608" y="422452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 v2 (community)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261872"/>
            <a:ext cx="2011680" cy="3675888"/>
          </a:xfrm>
          <a:prstGeom prst="rect">
            <a:avLst/>
          </a:prstGeom>
          <a:solidFill>
            <a:srgbClr val="0F172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261872"/>
            <a:ext cx="20116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1371600"/>
            <a:ext cx="17922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2744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📋 PLANNED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27448" y="202996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NBFC credit line (BNPL)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7448" y="257860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Credit on RuPay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27448" y="312724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POS dashboard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27448" y="367588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pay integration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27448" y="422452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SentinAI API (B2B)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1261872"/>
            <a:ext cx="2011680" cy="3675888"/>
          </a:xfrm>
          <a:prstGeom prst="rect">
            <a:avLst/>
          </a:prstGeom>
          <a:solidFill>
            <a:srgbClr val="0F1724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1261872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1371600"/>
            <a:ext cx="1792224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2025+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76288" y="1700784"/>
            <a:ext cx="1792224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🔮 VISION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76288" y="202996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Mutual fund SIP autoPay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76288" y="257860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Insurance micro-products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76288" y="312724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Multi-bank aggregation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76288" y="367588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 for Business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76288" y="4224528"/>
            <a:ext cx="1792224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Expand: Tamil Nadu, UP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quarter builds toward one vision: India's most trusted financial super-app.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4754880"/>
          </a:xfrm>
          <a:prstGeom prst="ellipse">
            <a:avLst/>
          </a:prstGeom>
          <a:solidFill>
            <a:srgbClr val="001F18"/>
          </a:solidFill>
          <a:ln w="12700">
            <a:solidFill>
              <a:srgbClr val="00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502920"/>
            <a:ext cx="1463040" cy="1463040"/>
          </a:xfrm>
          <a:prstGeom prst="roundRect">
            <a:avLst>
              <a:gd name="adj" fmla="val 1375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5029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80C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RenoPay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371600" y="2944368"/>
            <a:ext cx="6400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RenoPay to give every Indian a smarter, safer,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BAA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more mindful way to manage their money.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379476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0F1724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3822192"/>
            <a:ext cx="25603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Live 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renopay.vercel.app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79476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0F172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822192"/>
            <a:ext cx="25603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✉️  VPA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rishabh@renopay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4070E"/>
          </a:solidFill>
          <a:ln w="12700">
            <a:solidFill>
              <a:srgbClr val="0407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#RenoPay  ·  #FinTechForBharat  ·  #AIFirstUPI  ·  #BuildForIndia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2026-04-17T00:20:35Z</dcterms:created>
  <dcterms:modified xsi:type="dcterms:W3CDTF">2026-04-17T00:20:35Z</dcterms:modified>
</cp:coreProperties>
</file>
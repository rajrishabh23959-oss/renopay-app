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  <p:sldMasterId id="2147483653" r:id="rId3"/>
  </p:sldMasterIdLst>
  <p:notesMasterIdLst>
    <p:notesMasterId r:id="rId32"/>
  </p:notesMasterIdLst>
  <p:sldIdLst>
    <p:sldId id="269" r:id="rId4"/>
    <p:sldId id="268" r:id="rId5"/>
    <p:sldId id="282" r:id="rId6"/>
    <p:sldId id="258" r:id="rId7"/>
    <p:sldId id="284" r:id="rId8"/>
    <p:sldId id="281" r:id="rId9"/>
    <p:sldId id="270" r:id="rId10"/>
    <p:sldId id="271" r:id="rId11"/>
    <p:sldId id="259" r:id="rId12"/>
    <p:sldId id="272" r:id="rId13"/>
    <p:sldId id="285" r:id="rId14"/>
    <p:sldId id="257" r:id="rId15"/>
    <p:sldId id="286" r:id="rId16"/>
    <p:sldId id="273" r:id="rId17"/>
    <p:sldId id="287" r:id="rId18"/>
    <p:sldId id="275" r:id="rId19"/>
    <p:sldId id="276" r:id="rId20"/>
    <p:sldId id="277" r:id="rId21"/>
    <p:sldId id="262" r:id="rId22"/>
    <p:sldId id="278" r:id="rId23"/>
    <p:sldId id="283" r:id="rId24"/>
    <p:sldId id="260" r:id="rId25"/>
    <p:sldId id="263" r:id="rId26"/>
    <p:sldId id="256" r:id="rId27"/>
    <p:sldId id="261" r:id="rId28"/>
    <p:sldId id="288" r:id="rId29"/>
    <p:sldId id="289" r:id="rId30"/>
    <p:sldId id="280" r:id="rId31"/>
  </p:sldIdLst>
  <p:sldSz cx="9144000" cy="5143500" type="screen16x9"/>
  <p:notesSz cx="5143500" cy="9144000"/>
  <p:custDataLst>
    <p:tags r:id="rId3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61C"/>
    <a:srgbClr val="483E92"/>
    <a:srgbClr val="280EC2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3F605-2881-4B1F-9FFF-04011C0D40D3}" v="29" dt="2026-04-02T09:03:08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microsoft.com/office/2015/10/relationships/revisionInfo" Target="revisionInfo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RAJ" userId="e415a9e1ebee41d1" providerId="LiveId" clId="{C4531FF4-2EEF-4DC8-AB20-EBBEB076E620}"/>
    <pc:docChg chg="undo custSel addSld delSld modSld sldOrd">
      <pc:chgData name="RISHABH RAJ" userId="e415a9e1ebee41d1" providerId="LiveId" clId="{C4531FF4-2EEF-4DC8-AB20-EBBEB076E620}" dt="2026-04-02T09:14:26.546" v="625" actId="1076"/>
      <pc:docMkLst>
        <pc:docMk/>
      </pc:docMkLst>
      <pc:sldChg chg="setBg">
        <pc:chgData name="RISHABH RAJ" userId="e415a9e1ebee41d1" providerId="LiveId" clId="{C4531FF4-2EEF-4DC8-AB20-EBBEB076E620}" dt="2026-04-02T08:28:26.269" v="404"/>
        <pc:sldMkLst>
          <pc:docMk/>
          <pc:sldMk cId="0" sldId="256"/>
        </pc:sldMkLst>
      </pc:sldChg>
      <pc:sldChg chg="ord">
        <pc:chgData name="RISHABH RAJ" userId="e415a9e1ebee41d1" providerId="LiveId" clId="{C4531FF4-2EEF-4DC8-AB20-EBBEB076E620}" dt="2026-04-02T08:54:15.810" v="520"/>
        <pc:sldMkLst>
          <pc:docMk/>
          <pc:sldMk cId="0" sldId="257"/>
        </pc:sldMkLst>
      </pc:sldChg>
      <pc:sldChg chg="modSp add del mod modTransition setBg">
        <pc:chgData name="RISHABH RAJ" userId="e415a9e1ebee41d1" providerId="LiveId" clId="{C4531FF4-2EEF-4DC8-AB20-EBBEB076E620}" dt="2026-04-02T08:35:16.557" v="431"/>
        <pc:sldMkLst>
          <pc:docMk/>
          <pc:sldMk cId="0" sldId="259"/>
        </pc:sldMkLst>
        <pc:spChg chg="mod">
          <ac:chgData name="RISHABH RAJ" userId="e415a9e1ebee41d1" providerId="LiveId" clId="{C4531FF4-2EEF-4DC8-AB20-EBBEB076E620}" dt="2026-04-02T08:20:13.715" v="370" actId="1076"/>
          <ac:spMkLst>
            <pc:docMk/>
            <pc:sldMk cId="0" sldId="259"/>
            <ac:spMk id="4" creationId="{00000000-0000-0000-0000-000000000000}"/>
          </ac:spMkLst>
        </pc:spChg>
      </pc:sldChg>
      <pc:sldChg chg="modSp add mod modTransition setBg">
        <pc:chgData name="RISHABH RAJ" userId="e415a9e1ebee41d1" providerId="LiveId" clId="{C4531FF4-2EEF-4DC8-AB20-EBBEB076E620}" dt="2026-04-02T08:26:02.351" v="401" actId="20577"/>
        <pc:sldMkLst>
          <pc:docMk/>
          <pc:sldMk cId="0" sldId="260"/>
        </pc:sldMkLst>
        <pc:spChg chg="mod">
          <ac:chgData name="RISHABH RAJ" userId="e415a9e1ebee41d1" providerId="LiveId" clId="{C4531FF4-2EEF-4DC8-AB20-EBBEB076E620}" dt="2026-04-02T08:25:42.029" v="379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RISHABH RAJ" userId="e415a9e1ebee41d1" providerId="LiveId" clId="{C4531FF4-2EEF-4DC8-AB20-EBBEB076E620}" dt="2026-04-02T08:25:51.390" v="380" actId="1038"/>
          <ac:spMkLst>
            <pc:docMk/>
            <pc:sldMk cId="0" sldId="260"/>
            <ac:spMk id="31" creationId="{00000000-0000-0000-0000-000000000000}"/>
          </ac:spMkLst>
        </pc:spChg>
        <pc:spChg chg="mod">
          <ac:chgData name="RISHABH RAJ" userId="e415a9e1ebee41d1" providerId="LiveId" clId="{C4531FF4-2EEF-4DC8-AB20-EBBEB076E620}" dt="2026-04-02T08:26:02.351" v="401" actId="20577"/>
          <ac:spMkLst>
            <pc:docMk/>
            <pc:sldMk cId="0" sldId="260"/>
            <ac:spMk id="32" creationId="{00000000-0000-0000-0000-000000000000}"/>
          </ac:spMkLst>
        </pc:spChg>
      </pc:sldChg>
      <pc:sldChg chg="add modTransition setBg">
        <pc:chgData name="RISHABH RAJ" userId="e415a9e1ebee41d1" providerId="LiveId" clId="{C4531FF4-2EEF-4DC8-AB20-EBBEB076E620}" dt="2026-04-02T08:29:56.993" v="409"/>
        <pc:sldMkLst>
          <pc:docMk/>
          <pc:sldMk cId="0" sldId="261"/>
        </pc:sldMkLst>
      </pc:sldChg>
      <pc:sldChg chg="add modTransition setBg">
        <pc:chgData name="RISHABH RAJ" userId="e415a9e1ebee41d1" providerId="LiveId" clId="{C4531FF4-2EEF-4DC8-AB20-EBBEB076E620}" dt="2026-04-02T08:57:34.637" v="532"/>
        <pc:sldMkLst>
          <pc:docMk/>
          <pc:sldMk cId="0" sldId="262"/>
        </pc:sldMkLst>
      </pc:sldChg>
      <pc:sldChg chg="addSp delSp modSp mod">
        <pc:chgData name="RISHABH RAJ" userId="e415a9e1ebee41d1" providerId="LiveId" clId="{C4531FF4-2EEF-4DC8-AB20-EBBEB076E620}" dt="2026-04-02T09:14:26.546" v="625" actId="1076"/>
        <pc:sldMkLst>
          <pc:docMk/>
          <pc:sldMk cId="0" sldId="268"/>
        </pc:sldMkLst>
        <pc:spChg chg="mod">
          <ac:chgData name="RISHABH RAJ" userId="e415a9e1ebee41d1" providerId="LiveId" clId="{C4531FF4-2EEF-4DC8-AB20-EBBEB076E620}" dt="2026-04-02T08:49:59.873" v="435" actId="207"/>
          <ac:spMkLst>
            <pc:docMk/>
            <pc:sldMk cId="0" sldId="268"/>
            <ac:spMk id="30" creationId="{00000000-0000-0000-0000-000000000000}"/>
          </ac:spMkLst>
        </pc:spChg>
        <pc:spChg chg="mod">
          <ac:chgData name="RISHABH RAJ" userId="e415a9e1ebee41d1" providerId="LiveId" clId="{C4531FF4-2EEF-4DC8-AB20-EBBEB076E620}" dt="2026-04-02T08:49:46.999" v="434" actId="207"/>
          <ac:spMkLst>
            <pc:docMk/>
            <pc:sldMk cId="0" sldId="268"/>
            <ac:spMk id="32" creationId="{00000000-0000-0000-0000-000000000000}"/>
          </ac:spMkLst>
        </pc:spChg>
        <pc:spChg chg="mod">
          <ac:chgData name="RISHABH RAJ" userId="e415a9e1ebee41d1" providerId="LiveId" clId="{C4531FF4-2EEF-4DC8-AB20-EBBEB076E620}" dt="2026-04-02T08:50:24.642" v="474" actId="20577"/>
          <ac:spMkLst>
            <pc:docMk/>
            <pc:sldMk cId="0" sldId="268"/>
            <ac:spMk id="41" creationId="{00000000-0000-0000-0000-000000000000}"/>
          </ac:spMkLst>
        </pc:spChg>
        <pc:spChg chg="mod">
          <ac:chgData name="RISHABH RAJ" userId="e415a9e1ebee41d1" providerId="LiveId" clId="{C4531FF4-2EEF-4DC8-AB20-EBBEB076E620}" dt="2026-04-02T08:50:53.139" v="514" actId="14100"/>
          <ac:spMkLst>
            <pc:docMk/>
            <pc:sldMk cId="0" sldId="268"/>
            <ac:spMk id="44" creationId="{00000000-0000-0000-0000-000000000000}"/>
          </ac:spMkLst>
        </pc:spChg>
        <pc:picChg chg="del">
          <ac:chgData name="RISHABH RAJ" userId="e415a9e1ebee41d1" providerId="LiveId" clId="{C4531FF4-2EEF-4DC8-AB20-EBBEB076E620}" dt="2026-04-02T03:48:52.077" v="0" actId="478"/>
          <ac:picMkLst>
            <pc:docMk/>
            <pc:sldMk cId="0" sldId="268"/>
            <ac:picMk id="53" creationId="{00000000-0000-0000-0000-000000000000}"/>
          </ac:picMkLst>
        </pc:picChg>
        <pc:picChg chg="add del mod">
          <ac:chgData name="RISHABH RAJ" userId="e415a9e1ebee41d1" providerId="LiveId" clId="{C4531FF4-2EEF-4DC8-AB20-EBBEB076E620}" dt="2026-04-02T09:13:46.800" v="622" actId="931"/>
          <ac:picMkLst>
            <pc:docMk/>
            <pc:sldMk cId="0" sldId="268"/>
            <ac:picMk id="71" creationId="{89105E92-D73C-385A-DBBA-FC07CF689E25}"/>
          </ac:picMkLst>
        </pc:picChg>
        <pc:picChg chg="add del mod">
          <ac:chgData name="RISHABH RAJ" userId="e415a9e1ebee41d1" providerId="LiveId" clId="{C4531FF4-2EEF-4DC8-AB20-EBBEB076E620}" dt="2026-04-02T09:13:36.923" v="617" actId="478"/>
          <ac:picMkLst>
            <pc:docMk/>
            <pc:sldMk cId="0" sldId="268"/>
            <ac:picMk id="72" creationId="{BB5F89BA-7771-67DC-2370-5D0FAC776AB7}"/>
          </ac:picMkLst>
        </pc:picChg>
        <pc:picChg chg="add mod">
          <ac:chgData name="RISHABH RAJ" userId="e415a9e1ebee41d1" providerId="LiveId" clId="{C4531FF4-2EEF-4DC8-AB20-EBBEB076E620}" dt="2026-04-02T09:14:26.546" v="625" actId="1076"/>
          <ac:picMkLst>
            <pc:docMk/>
            <pc:sldMk cId="0" sldId="268"/>
            <ac:picMk id="74" creationId="{6AD1C84F-557F-FFDD-6B1A-6D296CA57A03}"/>
          </ac:picMkLst>
        </pc:picChg>
      </pc:sldChg>
      <pc:sldChg chg="modSp mod ord">
        <pc:chgData name="RISHABH RAJ" userId="e415a9e1ebee41d1" providerId="LiveId" clId="{C4531FF4-2EEF-4DC8-AB20-EBBEB076E620}" dt="2026-04-02T08:54:35.210" v="523" actId="20578"/>
        <pc:sldMkLst>
          <pc:docMk/>
          <pc:sldMk cId="0" sldId="270"/>
        </pc:sldMkLst>
        <pc:spChg chg="mod">
          <ac:chgData name="RISHABH RAJ" userId="e415a9e1ebee41d1" providerId="LiveId" clId="{C4531FF4-2EEF-4DC8-AB20-EBBEB076E620}" dt="2026-04-02T03:54:13.423" v="78" actId="1076"/>
          <ac:spMkLst>
            <pc:docMk/>
            <pc:sldMk cId="0" sldId="270"/>
            <ac:spMk id="2" creationId="{00000000-0000-0000-0000-000000000000}"/>
          </ac:spMkLst>
        </pc:spChg>
      </pc:sldChg>
      <pc:sldChg chg="modSp mod">
        <pc:chgData name="RISHABH RAJ" userId="e415a9e1ebee41d1" providerId="LiveId" clId="{C4531FF4-2EEF-4DC8-AB20-EBBEB076E620}" dt="2026-04-02T03:56:01.347" v="87" actId="14100"/>
        <pc:sldMkLst>
          <pc:docMk/>
          <pc:sldMk cId="0" sldId="272"/>
        </pc:sldMkLst>
        <pc:spChg chg="mod">
          <ac:chgData name="RISHABH RAJ" userId="e415a9e1ebee41d1" providerId="LiveId" clId="{C4531FF4-2EEF-4DC8-AB20-EBBEB076E620}" dt="2026-04-02T03:54:50.709" v="80" actId="14100"/>
          <ac:spMkLst>
            <pc:docMk/>
            <pc:sldMk cId="0" sldId="272"/>
            <ac:spMk id="51" creationId="{00000000-0000-0000-0000-000000000000}"/>
          </ac:spMkLst>
        </pc:spChg>
        <pc:spChg chg="mod">
          <ac:chgData name="RISHABH RAJ" userId="e415a9e1ebee41d1" providerId="LiveId" clId="{C4531FF4-2EEF-4DC8-AB20-EBBEB076E620}" dt="2026-04-02T03:55:11.767" v="82" actId="14100"/>
          <ac:spMkLst>
            <pc:docMk/>
            <pc:sldMk cId="0" sldId="272"/>
            <ac:spMk id="52" creationId="{00000000-0000-0000-0000-000000000000}"/>
          </ac:spMkLst>
        </pc:spChg>
        <pc:spChg chg="mod">
          <ac:chgData name="RISHABH RAJ" userId="e415a9e1ebee41d1" providerId="LiveId" clId="{C4531FF4-2EEF-4DC8-AB20-EBBEB076E620}" dt="2026-04-02T03:56:01.347" v="87" actId="14100"/>
          <ac:spMkLst>
            <pc:docMk/>
            <pc:sldMk cId="0" sldId="272"/>
            <ac:spMk id="53" creationId="{00000000-0000-0000-0000-000000000000}"/>
          </ac:spMkLst>
        </pc:spChg>
      </pc:sldChg>
      <pc:sldChg chg="modSp add del mod">
        <pc:chgData name="RISHABH RAJ" userId="e415a9e1ebee41d1" providerId="LiveId" clId="{C4531FF4-2EEF-4DC8-AB20-EBBEB076E620}" dt="2026-04-02T08:56:42.938" v="530" actId="47"/>
        <pc:sldMkLst>
          <pc:docMk/>
          <pc:sldMk cId="0" sldId="274"/>
        </pc:sldMkLst>
        <pc:spChg chg="mod">
          <ac:chgData name="RISHABH RAJ" userId="e415a9e1ebee41d1" providerId="LiveId" clId="{C4531FF4-2EEF-4DC8-AB20-EBBEB076E620}" dt="2026-04-02T04:58:28.324" v="89" actId="1076"/>
          <ac:spMkLst>
            <pc:docMk/>
            <pc:sldMk cId="0" sldId="274"/>
            <ac:spMk id="4" creationId="{00000000-0000-0000-0000-000000000000}"/>
          </ac:spMkLst>
        </pc:spChg>
        <pc:spChg chg="mod">
          <ac:chgData name="RISHABH RAJ" userId="e415a9e1ebee41d1" providerId="LiveId" clId="{C4531FF4-2EEF-4DC8-AB20-EBBEB076E620}" dt="2026-04-02T04:58:24.361" v="88" actId="14100"/>
          <ac:spMkLst>
            <pc:docMk/>
            <pc:sldMk cId="0" sldId="274"/>
            <ac:spMk id="5" creationId="{00000000-0000-0000-0000-000000000000}"/>
          </ac:spMkLst>
        </pc:spChg>
        <pc:spChg chg="mod">
          <ac:chgData name="RISHABH RAJ" userId="e415a9e1ebee41d1" providerId="LiveId" clId="{C4531FF4-2EEF-4DC8-AB20-EBBEB076E620}" dt="2026-04-02T04:59:18.383" v="93" actId="14100"/>
          <ac:spMkLst>
            <pc:docMk/>
            <pc:sldMk cId="0" sldId="274"/>
            <ac:spMk id="6" creationId="{00000000-0000-0000-0000-000000000000}"/>
          </ac:spMkLst>
        </pc:spChg>
        <pc:spChg chg="mod">
          <ac:chgData name="RISHABH RAJ" userId="e415a9e1ebee41d1" providerId="LiveId" clId="{C4531FF4-2EEF-4DC8-AB20-EBBEB076E620}" dt="2026-04-02T04:59:37.200" v="95" actId="14100"/>
          <ac:spMkLst>
            <pc:docMk/>
            <pc:sldMk cId="0" sldId="274"/>
            <ac:spMk id="7" creationId="{00000000-0000-0000-0000-000000000000}"/>
          </ac:spMkLst>
        </pc:spChg>
        <pc:spChg chg="mod">
          <ac:chgData name="RISHABH RAJ" userId="e415a9e1ebee41d1" providerId="LiveId" clId="{C4531FF4-2EEF-4DC8-AB20-EBBEB076E620}" dt="2026-04-02T04:59:42.451" v="96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RISHABH RAJ" userId="e415a9e1ebee41d1" providerId="LiveId" clId="{C4531FF4-2EEF-4DC8-AB20-EBBEB076E620}" dt="2026-04-02T04:59:51.427" v="97" actId="14100"/>
          <ac:spMkLst>
            <pc:docMk/>
            <pc:sldMk cId="0" sldId="274"/>
            <ac:spMk id="9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0:02.886" v="99" actId="14100"/>
          <ac:spMkLst>
            <pc:docMk/>
            <pc:sldMk cId="0" sldId="274"/>
            <ac:spMk id="10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0:09.492" v="100" actId="14100"/>
          <ac:spMkLst>
            <pc:docMk/>
            <pc:sldMk cId="0" sldId="274"/>
            <ac:spMk id="11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3:21.152" v="213" actId="14100"/>
          <ac:spMkLst>
            <pc:docMk/>
            <pc:sldMk cId="0" sldId="274"/>
            <ac:spMk id="12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3:24.300" v="214" actId="107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3:31.385" v="216" actId="14100"/>
          <ac:spMkLst>
            <pc:docMk/>
            <pc:sldMk cId="0" sldId="274"/>
            <ac:spMk id="14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3:40.391" v="217" actId="14100"/>
          <ac:spMkLst>
            <pc:docMk/>
            <pc:sldMk cId="0" sldId="274"/>
            <ac:spMk id="15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3:48.772" v="218" actId="14100"/>
          <ac:spMkLst>
            <pc:docMk/>
            <pc:sldMk cId="0" sldId="274"/>
            <ac:spMk id="16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2:11.694" v="203" actId="14100"/>
          <ac:spMkLst>
            <pc:docMk/>
            <pc:sldMk cId="0" sldId="274"/>
            <ac:spMk id="17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2:30.499" v="206" actId="1076"/>
          <ac:spMkLst>
            <pc:docMk/>
            <pc:sldMk cId="0" sldId="274"/>
            <ac:spMk id="18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2:35.736" v="207" actId="14100"/>
          <ac:spMkLst>
            <pc:docMk/>
            <pc:sldMk cId="0" sldId="274"/>
            <ac:spMk id="19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1:08.038" v="106" actId="14100"/>
          <ac:spMkLst>
            <pc:docMk/>
            <pc:sldMk cId="0" sldId="274"/>
            <ac:spMk id="20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2:01.626" v="202" actId="20577"/>
          <ac:spMkLst>
            <pc:docMk/>
            <pc:sldMk cId="0" sldId="274"/>
            <ac:spMk id="21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7:12.470" v="240" actId="14100"/>
          <ac:spMkLst>
            <pc:docMk/>
            <pc:sldMk cId="0" sldId="274"/>
            <ac:spMk id="22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4:00.737" v="220" actId="1076"/>
          <ac:spMkLst>
            <pc:docMk/>
            <pc:sldMk cId="0" sldId="274"/>
            <ac:spMk id="23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4:18.015" v="223" actId="14100"/>
          <ac:spMkLst>
            <pc:docMk/>
            <pc:sldMk cId="0" sldId="274"/>
            <ac:spMk id="24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4:26.076" v="224" actId="14100"/>
          <ac:spMkLst>
            <pc:docMk/>
            <pc:sldMk cId="0" sldId="274"/>
            <ac:spMk id="25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4:34.632" v="225" actId="14100"/>
          <ac:spMkLst>
            <pc:docMk/>
            <pc:sldMk cId="0" sldId="274"/>
            <ac:spMk id="26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3:12.271" v="211" actId="14100"/>
          <ac:spMkLst>
            <pc:docMk/>
            <pc:sldMk cId="0" sldId="274"/>
            <ac:spMk id="27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2:27.313" v="205" actId="1076"/>
          <ac:spMkLst>
            <pc:docMk/>
            <pc:sldMk cId="0" sldId="274"/>
            <ac:spMk id="28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2:42.600" v="208" actId="14100"/>
          <ac:spMkLst>
            <pc:docMk/>
            <pc:sldMk cId="0" sldId="274"/>
            <ac:spMk id="29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2:55.013" v="209" actId="14100"/>
          <ac:spMkLst>
            <pc:docMk/>
            <pc:sldMk cId="0" sldId="274"/>
            <ac:spMk id="30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3:03.032" v="210" actId="14100"/>
          <ac:spMkLst>
            <pc:docMk/>
            <pc:sldMk cId="0" sldId="274"/>
            <ac:spMk id="31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7:18.482" v="241" actId="14100"/>
          <ac:spMkLst>
            <pc:docMk/>
            <pc:sldMk cId="0" sldId="274"/>
            <ac:spMk id="32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4:52.531" v="228" actId="1076"/>
          <ac:spMkLst>
            <pc:docMk/>
            <pc:sldMk cId="0" sldId="274"/>
            <ac:spMk id="33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5:00.631" v="230" actId="14100"/>
          <ac:spMkLst>
            <pc:docMk/>
            <pc:sldMk cId="0" sldId="274"/>
            <ac:spMk id="34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5:07.862" v="231" actId="14100"/>
          <ac:spMkLst>
            <pc:docMk/>
            <pc:sldMk cId="0" sldId="274"/>
            <ac:spMk id="35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5:15.563" v="232" actId="14100"/>
          <ac:spMkLst>
            <pc:docMk/>
            <pc:sldMk cId="0" sldId="274"/>
            <ac:spMk id="36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7:04.165" v="239" actId="14100"/>
          <ac:spMkLst>
            <pc:docMk/>
            <pc:sldMk cId="0" sldId="274"/>
            <ac:spMk id="37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6:25.119" v="236" actId="14100"/>
          <ac:spMkLst>
            <pc:docMk/>
            <pc:sldMk cId="0" sldId="274"/>
            <ac:spMk id="38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6:57.361" v="238" actId="14100"/>
          <ac:spMkLst>
            <pc:docMk/>
            <pc:sldMk cId="0" sldId="274"/>
            <ac:spMk id="39" creationId="{00000000-0000-0000-0000-000000000000}"/>
          </ac:spMkLst>
        </pc:spChg>
      </pc:sldChg>
      <pc:sldChg chg="modSp mod">
        <pc:chgData name="RISHABH RAJ" userId="e415a9e1ebee41d1" providerId="LiveId" clId="{C4531FF4-2EEF-4DC8-AB20-EBBEB076E620}" dt="2026-04-02T06:43:54.001" v="316" actId="14100"/>
        <pc:sldMkLst>
          <pc:docMk/>
          <pc:sldMk cId="0" sldId="275"/>
        </pc:sldMkLst>
        <pc:spChg chg="mod">
          <ac:chgData name="RISHABH RAJ" userId="e415a9e1ebee41d1" providerId="LiveId" clId="{C4531FF4-2EEF-4DC8-AB20-EBBEB076E620}" dt="2026-04-02T05:08:01.143" v="246" actId="14100"/>
          <ac:spMkLst>
            <pc:docMk/>
            <pc:sldMk cId="0" sldId="275"/>
            <ac:spMk id="4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8:10.163" v="247" actId="14100"/>
          <ac:spMkLst>
            <pc:docMk/>
            <pc:sldMk cId="0" sldId="275"/>
            <ac:spMk id="5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8:24.013" v="248" actId="1076"/>
          <ac:spMkLst>
            <pc:docMk/>
            <pc:sldMk cId="0" sldId="275"/>
            <ac:spMk id="6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0:10.207" v="258" actId="1076"/>
          <ac:spMkLst>
            <pc:docMk/>
            <pc:sldMk cId="0" sldId="275"/>
            <ac:spMk id="7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8:39.175" v="250" actId="1076"/>
          <ac:spMkLst>
            <pc:docMk/>
            <pc:sldMk cId="0" sldId="275"/>
            <ac:spMk id="8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5:10.576" v="272" actId="14100"/>
          <ac:spMkLst>
            <pc:docMk/>
            <pc:sldMk cId="0" sldId="275"/>
            <ac:spMk id="9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9:16.407" v="254" actId="14100"/>
          <ac:spMkLst>
            <pc:docMk/>
            <pc:sldMk cId="0" sldId="275"/>
            <ac:spMk id="10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09:24.133" v="255" actId="14100"/>
          <ac:spMkLst>
            <pc:docMk/>
            <pc:sldMk cId="0" sldId="275"/>
            <ac:spMk id="11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43:54.001" v="316" actId="14100"/>
          <ac:spMkLst>
            <pc:docMk/>
            <pc:sldMk cId="0" sldId="275"/>
            <ac:spMk id="12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7:22.854" v="284" actId="107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7:29.864" v="285" actId="14100"/>
          <ac:spMkLst>
            <pc:docMk/>
            <pc:sldMk cId="0" sldId="275"/>
            <ac:spMk id="14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7:39.235" v="286" actId="14100"/>
          <ac:spMkLst>
            <pc:docMk/>
            <pc:sldMk cId="0" sldId="275"/>
            <ac:spMk id="15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7:44.527" v="287" actId="14100"/>
          <ac:spMkLst>
            <pc:docMk/>
            <pc:sldMk cId="0" sldId="275"/>
            <ac:spMk id="16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40:04.047" v="292" actId="14100"/>
          <ac:spMkLst>
            <pc:docMk/>
            <pc:sldMk cId="0" sldId="275"/>
            <ac:spMk id="17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6:02.933" v="278" actId="1076"/>
          <ac:spMkLst>
            <pc:docMk/>
            <pc:sldMk cId="0" sldId="275"/>
            <ac:spMk id="18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4:30.655" v="267" actId="14100"/>
          <ac:spMkLst>
            <pc:docMk/>
            <pc:sldMk cId="0" sldId="275"/>
            <ac:spMk id="19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4:38.486" v="268" actId="14100"/>
          <ac:spMkLst>
            <pc:docMk/>
            <pc:sldMk cId="0" sldId="275"/>
            <ac:spMk id="20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4:49.056" v="269" actId="14100"/>
          <ac:spMkLst>
            <pc:docMk/>
            <pc:sldMk cId="0" sldId="275"/>
            <ac:spMk id="21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41:42.483" v="304" actId="14100"/>
          <ac:spMkLst>
            <pc:docMk/>
            <pc:sldMk cId="0" sldId="275"/>
            <ac:spMk id="22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41:27.380" v="302" actId="1076"/>
          <ac:spMkLst>
            <pc:docMk/>
            <pc:sldMk cId="0" sldId="275"/>
            <ac:spMk id="23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41:33.841" v="303" actId="14100"/>
          <ac:spMkLst>
            <pc:docMk/>
            <pc:sldMk cId="0" sldId="275"/>
            <ac:spMk id="24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40:40.412" v="297" actId="14100"/>
          <ac:spMkLst>
            <pc:docMk/>
            <pc:sldMk cId="0" sldId="275"/>
            <ac:spMk id="25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41:22.498" v="301" actId="14100"/>
          <ac:spMkLst>
            <pc:docMk/>
            <pc:sldMk cId="0" sldId="275"/>
            <ac:spMk id="26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6:56.704" v="282" actId="14100"/>
          <ac:spMkLst>
            <pc:docMk/>
            <pc:sldMk cId="0" sldId="275"/>
            <ac:spMk id="27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5:49.481" v="275" actId="1076"/>
          <ac:spMkLst>
            <pc:docMk/>
            <pc:sldMk cId="0" sldId="275"/>
            <ac:spMk id="28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6:12.260" v="279" actId="14100"/>
          <ac:spMkLst>
            <pc:docMk/>
            <pc:sldMk cId="0" sldId="275"/>
            <ac:spMk id="29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6:22.972" v="280" actId="14100"/>
          <ac:spMkLst>
            <pc:docMk/>
            <pc:sldMk cId="0" sldId="275"/>
            <ac:spMk id="30" creationId="{00000000-0000-0000-0000-000000000000}"/>
          </ac:spMkLst>
        </pc:spChg>
        <pc:spChg chg="mod">
          <ac:chgData name="RISHABH RAJ" userId="e415a9e1ebee41d1" providerId="LiveId" clId="{C4531FF4-2EEF-4DC8-AB20-EBBEB076E620}" dt="2026-04-02T05:16:35.797" v="281" actId="14100"/>
          <ac:spMkLst>
            <pc:docMk/>
            <pc:sldMk cId="0" sldId="275"/>
            <ac:spMk id="31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43:29.778" v="315" actId="14100"/>
          <ac:spMkLst>
            <pc:docMk/>
            <pc:sldMk cId="0" sldId="275"/>
            <ac:spMk id="32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42:09.785" v="307" actId="1076"/>
          <ac:spMkLst>
            <pc:docMk/>
            <pc:sldMk cId="0" sldId="275"/>
            <ac:spMk id="33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42:35.530" v="311" actId="14100"/>
          <ac:spMkLst>
            <pc:docMk/>
            <pc:sldMk cId="0" sldId="275"/>
            <ac:spMk id="34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42:42.372" v="312" actId="14100"/>
          <ac:spMkLst>
            <pc:docMk/>
            <pc:sldMk cId="0" sldId="275"/>
            <ac:spMk id="35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42:50.747" v="313" actId="14100"/>
          <ac:spMkLst>
            <pc:docMk/>
            <pc:sldMk cId="0" sldId="275"/>
            <ac:spMk id="36" creationId="{00000000-0000-0000-0000-000000000000}"/>
          </ac:spMkLst>
        </pc:spChg>
      </pc:sldChg>
      <pc:sldChg chg="modSp mod">
        <pc:chgData name="RISHABH RAJ" userId="e415a9e1ebee41d1" providerId="LiveId" clId="{C4531FF4-2EEF-4DC8-AB20-EBBEB076E620}" dt="2026-04-02T07:03:57.417" v="369" actId="14100"/>
        <pc:sldMkLst>
          <pc:docMk/>
          <pc:sldMk cId="0" sldId="277"/>
        </pc:sldMkLst>
        <pc:spChg chg="mod">
          <ac:chgData name="RISHABH RAJ" userId="e415a9e1ebee41d1" providerId="LiveId" clId="{C4531FF4-2EEF-4DC8-AB20-EBBEB076E620}" dt="2026-04-02T07:01:41.882" v="360" actId="1076"/>
          <ac:spMkLst>
            <pc:docMk/>
            <pc:sldMk cId="0" sldId="277"/>
            <ac:spMk id="2" creationId="{00000000-0000-0000-0000-000000000000}"/>
          </ac:spMkLst>
        </pc:spChg>
        <pc:spChg chg="mod">
          <ac:chgData name="RISHABH RAJ" userId="e415a9e1ebee41d1" providerId="LiveId" clId="{C4531FF4-2EEF-4DC8-AB20-EBBEB076E620}" dt="2026-04-02T07:03:49.094" v="368" actId="14100"/>
          <ac:spMkLst>
            <pc:docMk/>
            <pc:sldMk cId="0" sldId="277"/>
            <ac:spMk id="4" creationId="{00000000-0000-0000-0000-000000000000}"/>
          </ac:spMkLst>
        </pc:spChg>
        <pc:spChg chg="mod">
          <ac:chgData name="RISHABH RAJ" userId="e415a9e1ebee41d1" providerId="LiveId" clId="{C4531FF4-2EEF-4DC8-AB20-EBBEB076E620}" dt="2026-04-02T07:03:57.417" v="369" actId="14100"/>
          <ac:spMkLst>
            <pc:docMk/>
            <pc:sldMk cId="0" sldId="277"/>
            <ac:spMk id="5" creationId="{00000000-0000-0000-0000-000000000000}"/>
          </ac:spMkLst>
        </pc:spChg>
        <pc:spChg chg="mod">
          <ac:chgData name="RISHABH RAJ" userId="e415a9e1ebee41d1" providerId="LiveId" clId="{C4531FF4-2EEF-4DC8-AB20-EBBEB076E620}" dt="2026-04-02T07:03:40.088" v="367" actId="14100"/>
          <ac:spMkLst>
            <pc:docMk/>
            <pc:sldMk cId="0" sldId="277"/>
            <ac:spMk id="6" creationId="{00000000-0000-0000-0000-000000000000}"/>
          </ac:spMkLst>
        </pc:spChg>
        <pc:spChg chg="mod">
          <ac:chgData name="RISHABH RAJ" userId="e415a9e1ebee41d1" providerId="LiveId" clId="{C4531FF4-2EEF-4DC8-AB20-EBBEB076E620}" dt="2026-04-02T06:59:31.127" v="346" actId="14100"/>
          <ac:spMkLst>
            <pc:docMk/>
            <pc:sldMk cId="0" sldId="277"/>
            <ac:spMk id="55" creationId="{00000000-0000-0000-0000-000000000000}"/>
          </ac:spMkLst>
        </pc:spChg>
        <pc:spChg chg="mod">
          <ac:chgData name="RISHABH RAJ" userId="e415a9e1ebee41d1" providerId="LiveId" clId="{C4531FF4-2EEF-4DC8-AB20-EBBEB076E620}" dt="2026-04-02T07:00:10.330" v="350" actId="14100"/>
          <ac:spMkLst>
            <pc:docMk/>
            <pc:sldMk cId="0" sldId="277"/>
            <ac:spMk id="56" creationId="{00000000-0000-0000-0000-000000000000}"/>
          </ac:spMkLst>
        </pc:spChg>
        <pc:spChg chg="mod">
          <ac:chgData name="RISHABH RAJ" userId="e415a9e1ebee41d1" providerId="LiveId" clId="{C4531FF4-2EEF-4DC8-AB20-EBBEB076E620}" dt="2026-04-02T07:01:15.783" v="357" actId="14100"/>
          <ac:spMkLst>
            <pc:docMk/>
            <pc:sldMk cId="0" sldId="277"/>
            <ac:spMk id="57" creationId="{00000000-0000-0000-0000-000000000000}"/>
          </ac:spMkLst>
        </pc:spChg>
      </pc:sldChg>
      <pc:sldChg chg="ord">
        <pc:chgData name="RISHABH RAJ" userId="e415a9e1ebee41d1" providerId="LiveId" clId="{C4531FF4-2EEF-4DC8-AB20-EBBEB076E620}" dt="2026-04-02T08:58:56.690" v="534"/>
        <pc:sldMkLst>
          <pc:docMk/>
          <pc:sldMk cId="0" sldId="278"/>
        </pc:sldMkLst>
      </pc:sldChg>
      <pc:sldChg chg="del">
        <pc:chgData name="RISHABH RAJ" userId="e415a9e1ebee41d1" providerId="LiveId" clId="{C4531FF4-2EEF-4DC8-AB20-EBBEB076E620}" dt="2026-04-02T08:59:16.250" v="537" actId="47"/>
        <pc:sldMkLst>
          <pc:docMk/>
          <pc:sldMk cId="0" sldId="279"/>
        </pc:sldMkLst>
      </pc:sldChg>
      <pc:sldChg chg="addSp delSp modSp mod">
        <pc:chgData name="RISHABH RAJ" userId="e415a9e1ebee41d1" providerId="LiveId" clId="{C4531FF4-2EEF-4DC8-AB20-EBBEB076E620}" dt="2026-04-02T09:03:42.954" v="616" actId="20577"/>
        <pc:sldMkLst>
          <pc:docMk/>
          <pc:sldMk cId="0" sldId="280"/>
        </pc:sldMkLst>
        <pc:spChg chg="mod">
          <ac:chgData name="RISHABH RAJ" userId="e415a9e1ebee41d1" providerId="LiveId" clId="{C4531FF4-2EEF-4DC8-AB20-EBBEB076E620}" dt="2026-04-02T09:02:34.336" v="575" actId="14100"/>
          <ac:spMkLst>
            <pc:docMk/>
            <pc:sldMk cId="0" sldId="280"/>
            <ac:spMk id="15" creationId="{00000000-0000-0000-0000-000000000000}"/>
          </ac:spMkLst>
        </pc:spChg>
        <pc:spChg chg="mod">
          <ac:chgData name="RISHABH RAJ" userId="e415a9e1ebee41d1" providerId="LiveId" clId="{C4531FF4-2EEF-4DC8-AB20-EBBEB076E620}" dt="2026-04-02T09:02:49.810" v="582" actId="1076"/>
          <ac:spMkLst>
            <pc:docMk/>
            <pc:sldMk cId="0" sldId="280"/>
            <ac:spMk id="16" creationId="{00000000-0000-0000-0000-000000000000}"/>
          </ac:spMkLst>
        </pc:spChg>
        <pc:spChg chg="mod">
          <ac:chgData name="RISHABH RAJ" userId="e415a9e1ebee41d1" providerId="LiveId" clId="{C4531FF4-2EEF-4DC8-AB20-EBBEB076E620}" dt="2026-04-02T09:03:42.954" v="616" actId="20577"/>
          <ac:spMkLst>
            <pc:docMk/>
            <pc:sldMk cId="0" sldId="280"/>
            <ac:spMk id="17" creationId="{00000000-0000-0000-0000-000000000000}"/>
          </ac:spMkLst>
        </pc:spChg>
        <pc:spChg chg="mod">
          <ac:chgData name="RISHABH RAJ" userId="e415a9e1ebee41d1" providerId="LiveId" clId="{C4531FF4-2EEF-4DC8-AB20-EBBEB076E620}" dt="2026-04-02T09:03:30.191" v="606" actId="207"/>
          <ac:spMkLst>
            <pc:docMk/>
            <pc:sldMk cId="0" sldId="280"/>
            <ac:spMk id="18" creationId="{00000000-0000-0000-0000-000000000000}"/>
          </ac:spMkLst>
        </pc:spChg>
        <pc:spChg chg="add del">
          <ac:chgData name="RISHABH RAJ" userId="e415a9e1ebee41d1" providerId="LiveId" clId="{C4531FF4-2EEF-4DC8-AB20-EBBEB076E620}" dt="2026-04-02T09:01:21.061" v="561" actId="11529"/>
          <ac:spMkLst>
            <pc:docMk/>
            <pc:sldMk cId="0" sldId="280"/>
            <ac:spMk id="24" creationId="{768295DA-1A74-A34B-D0B6-37AD1E3F06E3}"/>
          </ac:spMkLst>
        </pc:spChg>
      </pc:sldChg>
      <pc:sldChg chg="add modTransition setBg">
        <pc:chgData name="RISHABH RAJ" userId="e415a9e1ebee41d1" providerId="LiveId" clId="{C4531FF4-2EEF-4DC8-AB20-EBBEB076E620}" dt="2026-04-02T08:23:05.879" v="373"/>
        <pc:sldMkLst>
          <pc:docMk/>
          <pc:sldMk cId="0" sldId="281"/>
        </pc:sldMkLst>
      </pc:sldChg>
      <pc:sldChg chg="modSp add mod ord modTransition setBg">
        <pc:chgData name="RISHABH RAJ" userId="e415a9e1ebee41d1" providerId="LiveId" clId="{C4531FF4-2EEF-4DC8-AB20-EBBEB076E620}" dt="2026-04-02T08:32:12.098" v="419"/>
        <pc:sldMkLst>
          <pc:docMk/>
          <pc:sldMk cId="0" sldId="282"/>
        </pc:sldMkLst>
        <pc:spChg chg="mod">
          <ac:chgData name="RISHABH RAJ" userId="e415a9e1ebee41d1" providerId="LiveId" clId="{C4531FF4-2EEF-4DC8-AB20-EBBEB076E620}" dt="2026-04-02T08:24:06.456" v="376" actId="1076"/>
          <ac:spMkLst>
            <pc:docMk/>
            <pc:sldMk cId="0" sldId="282"/>
            <ac:spMk id="2" creationId="{00000000-0000-0000-0000-000000000000}"/>
          </ac:spMkLst>
        </pc:spChg>
      </pc:sldChg>
      <pc:sldChg chg="modSp add mod ord modTransition setBg">
        <pc:chgData name="RISHABH RAJ" userId="e415a9e1ebee41d1" providerId="LiveId" clId="{C4531FF4-2EEF-4DC8-AB20-EBBEB076E620}" dt="2026-04-02T08:59:01.837" v="536"/>
        <pc:sldMkLst>
          <pc:docMk/>
          <pc:sldMk cId="0" sldId="283"/>
        </pc:sldMkLst>
        <pc:spChg chg="mod">
          <ac:chgData name="RISHABH RAJ" userId="e415a9e1ebee41d1" providerId="LiveId" clId="{C4531FF4-2EEF-4DC8-AB20-EBBEB076E620}" dt="2026-04-02T08:29:06.509" v="407" actId="14100"/>
          <ac:spMkLst>
            <pc:docMk/>
            <pc:sldMk cId="0" sldId="283"/>
            <ac:spMk id="5" creationId="{00000000-0000-0000-0000-000000000000}"/>
          </ac:spMkLst>
        </pc:spChg>
        <pc:spChg chg="mod">
          <ac:chgData name="RISHABH RAJ" userId="e415a9e1ebee41d1" providerId="LiveId" clId="{C4531FF4-2EEF-4DC8-AB20-EBBEB076E620}" dt="2026-04-02T08:28:57.666" v="406"/>
          <ac:spMkLst>
            <pc:docMk/>
            <pc:sldMk cId="0" sldId="283"/>
            <ac:spMk id="7" creationId="{00000000-0000-0000-0000-000000000000}"/>
          </ac:spMkLst>
        </pc:spChg>
      </pc:sldChg>
      <pc:sldChg chg="add del ord modTransition setBg">
        <pc:chgData name="RISHABH RAJ" userId="e415a9e1ebee41d1" providerId="LiveId" clId="{C4531FF4-2EEF-4DC8-AB20-EBBEB076E620}" dt="2026-04-02T08:32:55.983" v="425"/>
        <pc:sldMkLst>
          <pc:docMk/>
          <pc:sldMk cId="0" sldId="284"/>
        </pc:sldMkLst>
      </pc:sldChg>
      <pc:sldChg chg="add modTransition setBg">
        <pc:chgData name="RISHABH RAJ" userId="e415a9e1ebee41d1" providerId="LiveId" clId="{C4531FF4-2EEF-4DC8-AB20-EBBEB076E620}" dt="2026-04-02T08:51:55.424" v="516"/>
        <pc:sldMkLst>
          <pc:docMk/>
          <pc:sldMk cId="0" sldId="285"/>
        </pc:sldMkLst>
      </pc:sldChg>
      <pc:sldChg chg="add ord modTransition setBg">
        <pc:chgData name="RISHABH RAJ" userId="e415a9e1ebee41d1" providerId="LiveId" clId="{C4531FF4-2EEF-4DC8-AB20-EBBEB076E620}" dt="2026-04-02T08:54:41.708" v="525"/>
        <pc:sldMkLst>
          <pc:docMk/>
          <pc:sldMk cId="0" sldId="286"/>
        </pc:sldMkLst>
      </pc:sldChg>
      <pc:sldChg chg="add modTransition setBg">
        <pc:chgData name="RISHABH RAJ" userId="e415a9e1ebee41d1" providerId="LiveId" clId="{C4531FF4-2EEF-4DC8-AB20-EBBEB076E620}" dt="2026-04-02T08:56:21.174" v="529"/>
        <pc:sldMkLst>
          <pc:docMk/>
          <pc:sldMk cId="0" sldId="287"/>
        </pc:sldMkLst>
      </pc:sldChg>
      <pc:sldChg chg="add modTransition setBg">
        <pc:chgData name="RISHABH RAJ" userId="e415a9e1ebee41d1" providerId="LiveId" clId="{C4531FF4-2EEF-4DC8-AB20-EBBEB076E620}" dt="2026-04-02T08:59:35.930" v="539"/>
        <pc:sldMkLst>
          <pc:docMk/>
          <pc:sldMk cId="0" sldId="288"/>
        </pc:sldMkLst>
      </pc:sldChg>
      <pc:sldChg chg="add modTransition setBg">
        <pc:chgData name="RISHABH RAJ" userId="e415a9e1ebee41d1" providerId="LiveId" clId="{C4531FF4-2EEF-4DC8-AB20-EBBEB076E620}" dt="2026-04-02T09:00:01.480" v="541"/>
        <pc:sldMkLst>
          <pc:docMk/>
          <pc:sldMk cId="0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914400"/>
            <a:ext cx="4572000" cy="4572000"/>
          </a:xfrm>
          <a:prstGeom prst="ellipse">
            <a:avLst/>
          </a:prstGeom>
          <a:solidFill>
            <a:srgbClr val="6E5AF0">
              <a:alpha val="2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029200" y="1828800"/>
            <a:ext cx="3657600" cy="3657600"/>
          </a:xfrm>
          <a:prstGeom prst="ellipse">
            <a:avLst/>
          </a:prstGeom>
          <a:solidFill>
            <a:srgbClr val="00D9B4">
              <a:alpha val="13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3200400" cy="3200400"/>
          </a:xfrm>
          <a:prstGeom prst="ellipse">
            <a:avLst/>
          </a:prstGeom>
          <a:solidFill>
            <a:srgbClr val="6E5AF0">
              <a:alpha val="1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6E5AF0">
                <a:alpha val="12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6E5AF0">
                <a:alpha val="12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6E5AF0">
                <a:alpha val="12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3810">
            <a:solidFill>
              <a:srgbClr val="6E5AF0">
                <a:alpha val="12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6E5AF0">
                <a:alpha val="12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114800" y="438912"/>
            <a:ext cx="914400" cy="914400"/>
          </a:xfrm>
          <a:prstGeom prst="rect">
            <a:avLst/>
          </a:prstGeom>
          <a:solidFill>
            <a:srgbClr val="6E5AF0">
              <a:alpha val="90000"/>
            </a:srgbClr>
          </a:solidFill>
          <a:ln w="25400">
            <a:solidFill>
              <a:srgbClr val="6E5AF0"/>
            </a:solidFill>
            <a:prstDash val="solid"/>
          </a:ln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114800" y="43891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</a:rPr>
              <a:t>₹</a:t>
            </a:r>
            <a:endParaRPr lang="en-US" sz="4000"/>
          </a:p>
        </p:txBody>
      </p:sp>
      <p:sp>
        <p:nvSpPr>
          <p:cNvPr id="12" name="Text 10"/>
          <p:cNvSpPr/>
          <p:nvPr/>
        </p:nvSpPr>
        <p:spPr>
          <a:xfrm>
            <a:off x="1371600" y="1481328"/>
            <a:ext cx="6400800" cy="1005840"/>
          </a:xfrm>
          <a:prstGeom prst="rect">
            <a:avLst/>
          </a:prstGeom>
          <a:noFill/>
          <a:effectLst>
            <a:outerShdw blurRad="177800" dist="50800" dir="8100000" algn="bl" rotWithShape="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200" b="1">
                <a:solidFill>
                  <a:srgbClr val="FFFFFF"/>
                </a:solidFill>
              </a:rPr>
              <a:t>RenoPay</a:t>
            </a:r>
            <a:endParaRPr lang="en-US" sz="7200"/>
          </a:p>
        </p:txBody>
      </p:sp>
      <p:sp>
        <p:nvSpPr>
          <p:cNvPr id="13" name="Text 11"/>
          <p:cNvSpPr/>
          <p:nvPr/>
        </p:nvSpPr>
        <p:spPr>
          <a:xfrm>
            <a:off x="1828800" y="2487168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kern="0" spc="400">
                <a:solidFill>
                  <a:srgbClr val="00D9B4"/>
                </a:solidFill>
              </a:rPr>
              <a:t>FEEL EVERY RUPEE YOU SPEND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828800" y="29077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>
                <a:solidFill>
                  <a:srgbClr val="7070A0"/>
                </a:solidFill>
              </a:rPr>
              <a:t>India's Most Intelligent UPI Payment Experience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1188720" y="3419856"/>
            <a:ext cx="1463040" cy="274320"/>
          </a:xfrm>
          <a:prstGeom prst="rect">
            <a:avLst/>
          </a:prstGeom>
          <a:solidFill>
            <a:srgbClr val="6E5AF0">
              <a:alpha val="18000"/>
            </a:srgbClr>
          </a:solidFill>
          <a:ln w="12700">
            <a:solidFill>
              <a:srgbClr val="6E5AF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88720" y="34198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>
                <a:solidFill>
                  <a:srgbClr val="6E5AF0"/>
                </a:solidFill>
              </a:rPr>
              <a:t>🛡  SentinAI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2926080" y="3419856"/>
            <a:ext cx="1463040" cy="274320"/>
          </a:xfrm>
          <a:prstGeom prst="rect">
            <a:avLst/>
          </a:prstGeom>
          <a:solidFill>
            <a:srgbClr val="00D9B4">
              <a:alpha val="18000"/>
            </a:srgbClr>
          </a:solidFill>
          <a:ln w="12700">
            <a:solidFill>
              <a:srgbClr val="00D9B4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926080" y="34198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>
                <a:solidFill>
                  <a:srgbClr val="00D9B4"/>
                </a:solidFill>
              </a:rPr>
              <a:t>⚡ UPI Lite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4663440" y="3419856"/>
            <a:ext cx="1463040" cy="274320"/>
          </a:xfrm>
          <a:prstGeom prst="rect">
            <a:avLst/>
          </a:prstGeom>
          <a:solidFill>
            <a:srgbClr val="F0BB3C">
              <a:alpha val="18000"/>
            </a:srgbClr>
          </a:solidFill>
          <a:ln w="12700">
            <a:solidFill>
              <a:srgbClr val="F0BB3C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63440" y="34198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>
                <a:solidFill>
                  <a:srgbClr val="F0BB3C"/>
                </a:solidFill>
              </a:rPr>
              <a:t>🪙 Digital Gold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6400800" y="3419856"/>
            <a:ext cx="1463040" cy="274320"/>
          </a:xfrm>
          <a:prstGeom prst="rect">
            <a:avLst/>
          </a:prstGeom>
          <a:solidFill>
            <a:srgbClr val="FF9F2E">
              <a:alpha val="18000"/>
            </a:srgbClr>
          </a:solidFill>
          <a:ln w="12700">
            <a:solidFill>
              <a:srgbClr val="FF9F2E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0" y="34198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>
                <a:solidFill>
                  <a:srgbClr val="FF9F2E"/>
                </a:solidFill>
              </a:rPr>
              <a:t>🎙  Voice UPI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1016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>
                <a:solidFill>
                  <a:srgbClr val="7070A0"/>
                </a:solidFill>
              </a:rPr>
              <a:t>React/JSX  ·  SentinAI Fraud Engine  ·  Multi-Layer Biometric Auth  ·  Real-Time In-Memory DB</a:t>
            </a:r>
            <a:endParaRPr lang="en-US" sz="75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E5AF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0" y="2743200"/>
            <a:ext cx="4572000" cy="4572000"/>
          </a:xfrm>
          <a:prstGeom prst="ellipse">
            <a:avLst/>
          </a:prstGeom>
          <a:solidFill>
            <a:srgbClr val="00D9B4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743200" y="2286000"/>
            <a:ext cx="3657600" cy="3657600"/>
          </a:xfrm>
          <a:prstGeom prst="ellipse">
            <a:avLst/>
          </a:prstGeom>
          <a:solidFill>
            <a:srgbClr val="F0BB3C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858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3716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0574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7432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290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1148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8006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1722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8580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438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915400" y="0"/>
            <a:ext cx="7315" cy="5143500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9144000" cy="7315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0" y="566928"/>
            <a:ext cx="9144000" cy="7315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0" y="1133856"/>
            <a:ext cx="9144000" cy="7315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0" y="1700784"/>
            <a:ext cx="9144000" cy="7315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0" y="2267712"/>
            <a:ext cx="9144000" cy="7315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0" y="2834640"/>
            <a:ext cx="9144000" cy="7315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0" y="3401568"/>
            <a:ext cx="9144000" cy="7315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3968496"/>
            <a:ext cx="9144000" cy="7315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0" y="4535424"/>
            <a:ext cx="9144000" cy="7315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0" y="5102352"/>
            <a:ext cx="9144000" cy="7315"/>
          </a:xfrm>
          <a:prstGeom prst="rect">
            <a:avLst/>
          </a:prstGeom>
          <a:solidFill>
            <a:srgbClr val="6E5AF0">
              <a:alpha val="7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E5AF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11480" y="182880"/>
            <a:ext cx="1280160" cy="329184"/>
          </a:xfrm>
          <a:prstGeom prst="rect">
            <a:avLst/>
          </a:prstGeom>
          <a:solidFill>
            <a:srgbClr val="FF0000">
              <a:alpha val="25000"/>
            </a:srgbClr>
          </a:solidFill>
          <a:ln w="12700">
            <a:solidFill>
              <a:srgbClr val="FF3D60">
                <a:alpha val="55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02920" y="274320"/>
            <a:ext cx="146304" cy="146304"/>
          </a:xfrm>
          <a:prstGeom prst="ellipse">
            <a:avLst/>
          </a:prstGeom>
          <a:solidFill>
            <a:srgbClr val="FF3D6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04088" y="182880"/>
            <a:ext cx="960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11480" y="621792"/>
            <a:ext cx="46634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Experience</a:t>
            </a:r>
            <a:endParaRPr lang="en-US" sz="3600"/>
          </a:p>
        </p:txBody>
      </p:sp>
      <p:sp>
        <p:nvSpPr>
          <p:cNvPr id="34" name="Text 32"/>
          <p:cNvSpPr/>
          <p:nvPr/>
        </p:nvSpPr>
        <p:spPr>
          <a:xfrm>
            <a:off x="411480" y="1225296"/>
            <a:ext cx="46634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800" b="1">
                <a:solidFill>
                  <a:srgbClr val="6E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RenoPay</a:t>
            </a:r>
            <a:endParaRPr lang="en-US" sz="5800"/>
          </a:p>
        </p:txBody>
      </p:sp>
      <p:sp>
        <p:nvSpPr>
          <p:cNvPr id="35" name="Text 33"/>
          <p:cNvSpPr/>
          <p:nvPr/>
        </p:nvSpPr>
        <p:spPr>
          <a:xfrm>
            <a:off x="429768" y="210312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kern="0" spc="400">
                <a:solidFill>
                  <a:srgbClr val="00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EVERY RUPEE YOU SPEND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411480" y="2542032"/>
            <a:ext cx="4526280" cy="1207008"/>
          </a:xfrm>
          <a:prstGeom prst="rect">
            <a:avLst/>
          </a:prstGeom>
          <a:solidFill>
            <a:srgbClr val="11112A"/>
          </a:solidFill>
          <a:ln w="12700">
            <a:solidFill>
              <a:srgbClr val="6E5AF0">
                <a:alpha val="45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11480" y="2542032"/>
            <a:ext cx="73152" cy="1207008"/>
          </a:xfrm>
          <a:prstGeom prst="rect">
            <a:avLst/>
          </a:prstGeom>
          <a:solidFill>
            <a:srgbClr val="6E5AF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66928" y="2596896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6E5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DEMO LOGIN CREDENTIALS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566928" y="2926080"/>
            <a:ext cx="2121408" cy="585216"/>
          </a:xfrm>
          <a:prstGeom prst="rect">
            <a:avLst/>
          </a:prstGeom>
          <a:solidFill>
            <a:srgbClr val="0D0D1F"/>
          </a:solidFill>
          <a:ln w="1270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58368" y="2953512"/>
            <a:ext cx="19385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Phone Number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658368" y="3145536"/>
            <a:ext cx="19385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D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VALID NUMBER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2779776" y="2926080"/>
            <a:ext cx="2084832" cy="585216"/>
          </a:xfrm>
          <a:prstGeom prst="rect">
            <a:avLst/>
          </a:prstGeom>
          <a:solidFill>
            <a:srgbClr val="0D0D1F"/>
          </a:solidFill>
          <a:ln w="1270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2871216" y="2953512"/>
            <a:ext cx="19019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UPI PIN</a:t>
            </a:r>
            <a:endParaRPr lang="en-US" sz="800"/>
          </a:p>
        </p:txBody>
      </p:sp>
      <p:sp>
        <p:nvSpPr>
          <p:cNvPr id="44" name="Text 42"/>
          <p:cNvSpPr/>
          <p:nvPr/>
        </p:nvSpPr>
        <p:spPr>
          <a:xfrm>
            <a:off x="2871216" y="3145535"/>
            <a:ext cx="1956816" cy="519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F0B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YOURSELF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11480" y="3858768"/>
            <a:ext cx="4526280" cy="749808"/>
          </a:xfrm>
          <a:prstGeom prst="rect">
            <a:avLst/>
          </a:prstGeom>
          <a:solidFill>
            <a:srgbClr val="0D0D1F"/>
          </a:solidFill>
          <a:ln w="1270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548640" y="3895344"/>
            <a:ext cx="4251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kern="0" spc="10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WHAT YOU CAN EXPLORE IN THE APP</a:t>
            </a:r>
            <a:endParaRPr lang="en-US" sz="850"/>
          </a:p>
        </p:txBody>
      </p:sp>
      <p:sp>
        <p:nvSpPr>
          <p:cNvPr id="47" name="Text 45"/>
          <p:cNvSpPr/>
          <p:nvPr/>
        </p:nvSpPr>
        <p:spPr>
          <a:xfrm>
            <a:off x="548640" y="415137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Reno-Bot AI Advisor</a:t>
            </a: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1664208" y="415137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Live Expense Tracker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>
          <a:xfrm>
            <a:off x="2779776" y="415137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 Digital Gold Round-Up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3895344" y="415137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Voice UPI Payments</a:t>
            </a:r>
            <a:endParaRPr lang="en-US" sz="800"/>
          </a:p>
        </p:txBody>
      </p:sp>
      <p:sp>
        <p:nvSpPr>
          <p:cNvPr id="51" name="Shape 49"/>
          <p:cNvSpPr/>
          <p:nvPr/>
        </p:nvSpPr>
        <p:spPr>
          <a:xfrm>
            <a:off x="5074920" y="164592"/>
            <a:ext cx="3840480" cy="3840480"/>
          </a:xfrm>
          <a:prstGeom prst="ellipse">
            <a:avLst/>
          </a:prstGeom>
          <a:solidFill>
            <a:srgbClr val="6E5AF0">
              <a:alpha val="12000"/>
            </a:srgbClr>
          </a:solidFill>
          <a:ln w="38100">
            <a:solidFill>
              <a:srgbClr val="6E5AF0">
                <a:alpha val="40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5486400" y="347472"/>
            <a:ext cx="3017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5349240" y="3456432"/>
            <a:ext cx="3474720" cy="475488"/>
          </a:xfrm>
          <a:prstGeom prst="rect">
            <a:avLst/>
          </a:prstGeom>
          <a:solidFill>
            <a:srgbClr val="6E5AF0"/>
          </a:solidFill>
          <a:ln w="12700">
            <a:solidFill>
              <a:srgbClr val="000000">
                <a:alpha val="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49240" y="3456432"/>
            <a:ext cx="3474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SCAN TO OPEN THE APP</a:t>
            </a:r>
            <a:endParaRPr lang="en-US" sz="1200"/>
          </a:p>
        </p:txBody>
      </p:sp>
      <p:sp>
        <p:nvSpPr>
          <p:cNvPr id="56" name="Text 53"/>
          <p:cNvSpPr/>
          <p:nvPr/>
        </p:nvSpPr>
        <p:spPr>
          <a:xfrm>
            <a:off x="5257800" y="4005072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smartphone camera · No app download needed · Fully functional prototype</a:t>
            </a:r>
            <a:endParaRPr lang="en-US" sz="850"/>
          </a:p>
        </p:txBody>
      </p:sp>
      <p:sp>
        <p:nvSpPr>
          <p:cNvPr id="57" name="Shape 54"/>
          <p:cNvSpPr/>
          <p:nvPr/>
        </p:nvSpPr>
        <p:spPr>
          <a:xfrm>
            <a:off x="5285232" y="4407408"/>
            <a:ext cx="896112" cy="438912"/>
          </a:xfrm>
          <a:prstGeom prst="rect">
            <a:avLst/>
          </a:prstGeom>
          <a:solidFill>
            <a:srgbClr val="11112A"/>
          </a:solidFill>
          <a:ln w="12700">
            <a:solidFill>
              <a:srgbClr val="00D9B4">
                <a:alpha val="45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285232" y="4407408"/>
            <a:ext cx="896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>
                <a:solidFill>
                  <a:srgbClr val="000000"/>
                </a:solidFill>
              </a:rPr>
              <a:t>🛡</a:t>
            </a:r>
            <a:endParaRPr lang="en-US" sz="1300"/>
          </a:p>
        </p:txBody>
      </p:sp>
      <p:sp>
        <p:nvSpPr>
          <p:cNvPr id="59" name="Text 56"/>
          <p:cNvSpPr/>
          <p:nvPr/>
        </p:nvSpPr>
        <p:spPr>
          <a:xfrm>
            <a:off x="5285232" y="4645152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SentinAI</a:t>
            </a:r>
            <a:endParaRPr lang="en-US" sz="650"/>
          </a:p>
        </p:txBody>
      </p:sp>
      <p:sp>
        <p:nvSpPr>
          <p:cNvPr id="60" name="Shape 57"/>
          <p:cNvSpPr/>
          <p:nvPr/>
        </p:nvSpPr>
        <p:spPr>
          <a:xfrm>
            <a:off x="6245352" y="4407408"/>
            <a:ext cx="896112" cy="438912"/>
          </a:xfrm>
          <a:prstGeom prst="rect">
            <a:avLst/>
          </a:prstGeom>
          <a:solidFill>
            <a:srgbClr val="11112A"/>
          </a:solidFill>
          <a:ln w="12700">
            <a:solidFill>
              <a:srgbClr val="F0BB3C">
                <a:alpha val="45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1" name="Text 58"/>
          <p:cNvSpPr/>
          <p:nvPr/>
        </p:nvSpPr>
        <p:spPr>
          <a:xfrm>
            <a:off x="6245352" y="4407408"/>
            <a:ext cx="896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>
                <a:solidFill>
                  <a:srgbClr val="000000"/>
                </a:solidFill>
              </a:rPr>
              <a:t>⚡</a:t>
            </a:r>
            <a:endParaRPr lang="en-US" sz="1300"/>
          </a:p>
        </p:txBody>
      </p:sp>
      <p:sp>
        <p:nvSpPr>
          <p:cNvPr id="62" name="Text 59"/>
          <p:cNvSpPr/>
          <p:nvPr/>
        </p:nvSpPr>
        <p:spPr>
          <a:xfrm>
            <a:off x="6245352" y="4645152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PIN-less</a:t>
            </a:r>
            <a:endParaRPr lang="en-US" sz="650"/>
          </a:p>
        </p:txBody>
      </p:sp>
      <p:sp>
        <p:nvSpPr>
          <p:cNvPr id="63" name="Shape 60"/>
          <p:cNvSpPr/>
          <p:nvPr/>
        </p:nvSpPr>
        <p:spPr>
          <a:xfrm>
            <a:off x="7205472" y="4407408"/>
            <a:ext cx="896112" cy="438912"/>
          </a:xfrm>
          <a:prstGeom prst="rect">
            <a:avLst/>
          </a:prstGeom>
          <a:solidFill>
            <a:srgbClr val="11112A"/>
          </a:solidFill>
          <a:ln w="12700">
            <a:solidFill>
              <a:srgbClr val="00D9B4">
                <a:alpha val="45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4" name="Text 61"/>
          <p:cNvSpPr/>
          <p:nvPr/>
        </p:nvSpPr>
        <p:spPr>
          <a:xfrm>
            <a:off x="7205472" y="4407408"/>
            <a:ext cx="896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>
                <a:solidFill>
                  <a:srgbClr val="000000"/>
                </a:solidFill>
              </a:rPr>
              <a:t>🗺️</a:t>
            </a:r>
            <a:endParaRPr lang="en-US" sz="1300"/>
          </a:p>
        </p:txBody>
      </p:sp>
      <p:sp>
        <p:nvSpPr>
          <p:cNvPr id="65" name="Text 62"/>
          <p:cNvSpPr/>
          <p:nvPr/>
        </p:nvSpPr>
        <p:spPr>
          <a:xfrm>
            <a:off x="7205472" y="4645152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</a:t>
            </a:r>
            <a:endParaRPr lang="en-US" sz="650"/>
          </a:p>
        </p:txBody>
      </p:sp>
      <p:sp>
        <p:nvSpPr>
          <p:cNvPr id="66" name="Shape 63"/>
          <p:cNvSpPr/>
          <p:nvPr/>
        </p:nvSpPr>
        <p:spPr>
          <a:xfrm>
            <a:off x="8165592" y="4407408"/>
            <a:ext cx="896112" cy="438912"/>
          </a:xfrm>
          <a:prstGeom prst="rect">
            <a:avLst/>
          </a:prstGeom>
          <a:solidFill>
            <a:srgbClr val="11112A"/>
          </a:solidFill>
          <a:ln w="12700">
            <a:solidFill>
              <a:srgbClr val="F0BB3C">
                <a:alpha val="45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7" name="Text 64"/>
          <p:cNvSpPr/>
          <p:nvPr/>
        </p:nvSpPr>
        <p:spPr>
          <a:xfrm>
            <a:off x="8165592" y="4407408"/>
            <a:ext cx="8961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>
                <a:solidFill>
                  <a:srgbClr val="000000"/>
                </a:solidFill>
              </a:rPr>
              <a:t>🎰</a:t>
            </a:r>
            <a:endParaRPr lang="en-US" sz="1300"/>
          </a:p>
        </p:txBody>
      </p:sp>
      <p:sp>
        <p:nvSpPr>
          <p:cNvPr id="68" name="Text 65"/>
          <p:cNvSpPr/>
          <p:nvPr/>
        </p:nvSpPr>
        <p:spPr>
          <a:xfrm>
            <a:off x="8165592" y="4645152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</a:t>
            </a:r>
            <a:endParaRPr lang="en-US" sz="650"/>
          </a:p>
        </p:txBody>
      </p:sp>
      <p:sp>
        <p:nvSpPr>
          <p:cNvPr id="69" name="Shape 6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0D1F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0" name="Text 6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RenoPay  |  Scan QR to Try the Live Demo  |  Rishabh Raj  |  rishabh@renopay</a:t>
            </a:r>
            <a:endParaRPr lang="en-US" sz="900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6AD1C84F-557F-FFDD-6B1A-6D296CA57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715" y="319337"/>
            <a:ext cx="3067050" cy="30289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88620"/>
            <a:ext cx="4572000" cy="4572000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D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132588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02920" cy="132588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Rampant UPI Fraud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17627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₹1,087 Cr lost to UPI fraud in FY24. Victims get zero real-time warnings — scammers exploit trust gaps in seconds.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737360"/>
            <a:ext cx="4023360" cy="132588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737360"/>
            <a:ext cx="502920" cy="132588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8288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Financial Visibility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217627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Indians have no budget tracking. People overspend, miss bill due dates, and only discover shortfalls mid-month.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4023360" cy="132588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502920" cy="132588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520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😴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337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Boring, Disengaged Saving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68503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14% of millennials save consistently. Existing apps offer no motivation, no rewards, and no behavioural nudges.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246120"/>
            <a:ext cx="4023360" cy="132588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246120"/>
            <a:ext cx="502920" cy="132588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3520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3337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68503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UPI users speak Hindi or Tamil first. Yet almost all fintech UIs default to English, creating friction and distrust.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69680" y="1645920"/>
            <a:ext cx="109728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RenoPay  •  Investor Deck 2025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D60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F3D60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 PROBLEM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Current UPI Apps Fail Users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65960" cy="2423160"/>
          </a:xfrm>
          <a:prstGeom prst="rect">
            <a:avLst/>
          </a:prstGeom>
          <a:solidFill>
            <a:srgbClr val="11112A"/>
          </a:solidFill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65960" cy="64008"/>
          </a:xfrm>
          <a:prstGeom prst="rect">
            <a:avLst/>
          </a:prstGeom>
          <a:solidFill>
            <a:srgbClr val="FF3D60"/>
          </a:solidFill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51560" y="1572768"/>
            <a:ext cx="594360" cy="594360"/>
          </a:xfrm>
          <a:prstGeom prst="ellipse">
            <a:avLst/>
          </a:prstGeom>
          <a:solidFill>
            <a:srgbClr val="FF3D60">
              <a:alpha val="2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💸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965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3D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₹1.25L Cr</a:t>
            </a:r>
            <a:endParaRPr lang="en-US" sz="260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AAAACC"/>
                </a:solidFill>
              </a:rPr>
              <a:t>Lost to UPI fraud in 2024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514600" y="1417320"/>
            <a:ext cx="1965960" cy="2423160"/>
          </a:xfrm>
          <a:prstGeom prst="rect">
            <a:avLst/>
          </a:prstGeom>
          <a:solidFill>
            <a:srgbClr val="11112A"/>
          </a:solidFill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514600" y="1417320"/>
            <a:ext cx="1965960" cy="64008"/>
          </a:xfrm>
          <a:prstGeom prst="rect">
            <a:avLst/>
          </a:prstGeom>
          <a:solidFill>
            <a:srgbClr val="FF9F2E"/>
          </a:solidFill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200400" y="1572768"/>
            <a:ext cx="594360" cy="594360"/>
          </a:xfrm>
          <a:prstGeom prst="ellipse">
            <a:avLst/>
          </a:prstGeom>
          <a:solidFill>
            <a:srgbClr val="FF9F2E">
              <a:alpha val="2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200400" y="1572768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😶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2514600" y="2286000"/>
            <a:ext cx="1965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9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600"/>
          </a:p>
        </p:txBody>
      </p:sp>
      <p:sp>
        <p:nvSpPr>
          <p:cNvPr id="16" name="Text 14"/>
          <p:cNvSpPr/>
          <p:nvPr/>
        </p:nvSpPr>
        <p:spPr>
          <a:xfrm>
            <a:off x="2606040" y="2907792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AAAACC"/>
                </a:solidFill>
              </a:rPr>
              <a:t>Users unaware of silent transactions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1965960" cy="2423160"/>
          </a:xfrm>
          <a:prstGeom prst="rect">
            <a:avLst/>
          </a:prstGeom>
          <a:solidFill>
            <a:srgbClr val="11112A"/>
          </a:solidFill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1965960" cy="64008"/>
          </a:xfrm>
          <a:prstGeom prst="rect">
            <a:avLst/>
          </a:prstGeom>
          <a:solidFill>
            <a:srgbClr val="6E5AF0"/>
          </a:solidFill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349240" y="1572768"/>
            <a:ext cx="594360" cy="594360"/>
          </a:xfrm>
          <a:prstGeom prst="ellipse">
            <a:avLst/>
          </a:prstGeom>
          <a:solidFill>
            <a:srgbClr val="6E5AF0">
              <a:alpha val="2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349240" y="1572768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🤖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4663440" y="2286000"/>
            <a:ext cx="1965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6E5A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2600"/>
          </a:p>
        </p:txBody>
      </p:sp>
      <p:sp>
        <p:nvSpPr>
          <p:cNvPr id="22" name="Text 20"/>
          <p:cNvSpPr/>
          <p:nvPr/>
        </p:nvSpPr>
        <p:spPr>
          <a:xfrm>
            <a:off x="4754880" y="2907792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AAAACC"/>
                </a:solidFill>
              </a:rPr>
              <a:t>AI-powered budget prediction in any UPI app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6812280" y="1417320"/>
            <a:ext cx="1965960" cy="2423160"/>
          </a:xfrm>
          <a:prstGeom prst="rect">
            <a:avLst/>
          </a:prstGeom>
          <a:solidFill>
            <a:srgbClr val="11112A"/>
          </a:solidFill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812280" y="1417320"/>
            <a:ext cx="1965960" cy="64008"/>
          </a:xfrm>
          <a:prstGeom prst="rect">
            <a:avLst/>
          </a:prstGeom>
          <a:solidFill>
            <a:srgbClr val="00D9B4"/>
          </a:solidFill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498080" y="1572768"/>
            <a:ext cx="594360" cy="594360"/>
          </a:xfrm>
          <a:prstGeom prst="ellipse">
            <a:avLst/>
          </a:prstGeom>
          <a:solidFill>
            <a:srgbClr val="00D9B4">
              <a:alpha val="28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498080" y="1572768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⏱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6812280" y="2286000"/>
            <a:ext cx="1965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0D9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mins</a:t>
            </a:r>
            <a:endParaRPr lang="en-US" sz="2600"/>
          </a:p>
        </p:txBody>
      </p:sp>
      <p:sp>
        <p:nvSpPr>
          <p:cNvPr id="28" name="Text 26"/>
          <p:cNvSpPr/>
          <p:nvPr/>
        </p:nvSpPr>
        <p:spPr>
          <a:xfrm>
            <a:off x="6903720" y="2907792"/>
            <a:ext cx="1783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AAAACC"/>
                </a:solidFill>
              </a:rPr>
              <a:t>Avg time wasted reviewing transactions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1A0A10"/>
          </a:solidFill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365760" y="4069080"/>
            <a:ext cx="54864" cy="777240"/>
          </a:xfrm>
          <a:prstGeom prst="rect">
            <a:avLst/>
          </a:prstGeom>
          <a:solidFill>
            <a:srgbClr val="FF3D60"/>
          </a:solidFill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48640" y="406908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India needs a payment app that THINKS — not just transacts.</a:t>
            </a:r>
            <a:endParaRPr lang="en-US" sz="16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DCFB4">
              <a:alpha val="10000"/>
            </a:srgbClr>
          </a:solidFill>
          <a:ln w="12700">
            <a:solidFill>
              <a:srgbClr val="0DCFB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09728" cy="2011680"/>
          </a:xfrm>
          <a:prstGeom prst="rect">
            <a:avLst/>
          </a:prstGeom>
          <a:solidFill>
            <a:srgbClr val="0DCFB4"/>
          </a:solidFill>
          <a:ln w="12700">
            <a:solidFill>
              <a:srgbClr val="0DCF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RENO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AI-First UPI Super-App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3154680"/>
            <a:ext cx="4754880" cy="59436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1546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every Indian feel in control of their money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977640"/>
            <a:ext cx="1463040" cy="82296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9776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₹2T+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445312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Market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3977640"/>
            <a:ext cx="1463040" cy="82296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39776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500M+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31720" y="445312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Users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77640" y="3977640"/>
            <a:ext cx="1463040" cy="82296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9776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₹50B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77640" y="445312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57200"/>
            <a:ext cx="2743200" cy="420624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45720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LIVE APP PREVIEW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1005840"/>
            <a:ext cx="2651760" cy="457200"/>
          </a:xfrm>
          <a:prstGeom prst="rect">
            <a:avLst/>
          </a:prstGeom>
          <a:solidFill>
            <a:srgbClr val="1E244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005840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SentinAI Fraud Shield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536192"/>
            <a:ext cx="2651760" cy="457200"/>
          </a:xfrm>
          <a:prstGeom prst="rect">
            <a:avLst/>
          </a:prstGeom>
          <a:solidFill>
            <a:srgbClr val="1E244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1536192"/>
            <a:ext cx="54864" cy="457200"/>
          </a:xfrm>
          <a:prstGeom prst="rect">
            <a:avLst/>
          </a:prstGeom>
          <a:solidFill>
            <a:srgbClr val="0DCFB4"/>
          </a:solidFill>
          <a:ln w="12700">
            <a:solidFill>
              <a:srgbClr val="0DCF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5361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Smart Budget 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2066544"/>
            <a:ext cx="2651760" cy="457200"/>
          </a:xfrm>
          <a:prstGeom prst="rect">
            <a:avLst/>
          </a:prstGeom>
          <a:solidFill>
            <a:srgbClr val="1E244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2066544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0665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Gamified Savings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596896"/>
            <a:ext cx="2651760" cy="457200"/>
          </a:xfrm>
          <a:prstGeom prst="rect">
            <a:avLst/>
          </a:prstGeom>
          <a:solidFill>
            <a:srgbClr val="1E244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2596896"/>
            <a:ext cx="54864" cy="457200"/>
          </a:xfrm>
          <a:prstGeom prst="rect">
            <a:avLst/>
          </a:prstGeom>
          <a:solidFill>
            <a:srgbClr val="0DCFB4"/>
          </a:solidFill>
          <a:ln w="12700">
            <a:solidFill>
              <a:srgbClr val="0DCF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5968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PIN-less Payments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3127248"/>
            <a:ext cx="2651760" cy="457200"/>
          </a:xfrm>
          <a:prstGeom prst="rect">
            <a:avLst/>
          </a:prstGeom>
          <a:solidFill>
            <a:srgbClr val="1E244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127248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127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Digital Gold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3657600"/>
            <a:ext cx="2651760" cy="457200"/>
          </a:xfrm>
          <a:prstGeom prst="rect">
            <a:avLst/>
          </a:prstGeom>
          <a:solidFill>
            <a:srgbClr val="1E244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3657600"/>
            <a:ext cx="54864" cy="457200"/>
          </a:xfrm>
          <a:prstGeom prst="rect">
            <a:avLst/>
          </a:prstGeom>
          <a:solidFill>
            <a:srgbClr val="0DCFB4"/>
          </a:solidFill>
          <a:ln w="12700">
            <a:solidFill>
              <a:srgbClr val="0DCF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Hindi | Tamil | EN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Investor Deck  •  2025  •  Confidential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6400800" cy="6400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RenoPay is an AI-first UPI super-app built to make every Indian feel in control of their money.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84832"/>
            <a:ext cx="4023360" cy="82296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84832"/>
            <a:ext cx="548640" cy="822960"/>
          </a:xfrm>
          <a:prstGeom prst="rect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SentinAI — Real-time fraud prevention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450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trained on 50M+ transactions. Blocks suspicious payees, warns users before they confirm payment.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2084832"/>
            <a:ext cx="4023360" cy="82296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084832"/>
            <a:ext cx="548640" cy="822960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2130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budget warnings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450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forecasts spending trajectory and sends gentle nudges 5 days before you're likely to overspend.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44952"/>
            <a:ext cx="4023360" cy="82296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44952"/>
            <a:ext cx="548640" cy="822960"/>
          </a:xfrm>
          <a:prstGeom prst="rect">
            <a:avLst/>
          </a:prstGeom>
          <a:solidFill>
            <a:srgbClr val="0DCFB4">
              <a:alpha val="35000"/>
            </a:srgbClr>
          </a:solidFill>
          <a:ln w="12700">
            <a:solidFill>
              <a:srgbClr val="0DCFB4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savings with treasure maps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410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goal journeys, streak rewards, and social leaderboards turn saving into an addictive daily habit.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3044952"/>
            <a:ext cx="4023360" cy="82296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044952"/>
            <a:ext cx="548640" cy="822960"/>
          </a:xfrm>
          <a:prstGeom prst="rect">
            <a:avLst/>
          </a:prstGeom>
          <a:solidFill>
            <a:srgbClr val="22D3EE">
              <a:alpha val="35000"/>
            </a:srgbClr>
          </a:solidFill>
          <a:ln w="1270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PIN-less UPI Lite for micro-payments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34107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payments under ₹500 — tap and pay instantly at chai stalls, autos, and kirana stores.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005072"/>
            <a:ext cx="4023360" cy="82296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05072"/>
            <a:ext cx="548640" cy="822960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🥇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97280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Digital Gold round-ups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4370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every transaction up to the nearest ₹10 and invest the spare change in 24K digital gold automatically.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4005072"/>
            <a:ext cx="4023360" cy="82296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4005072"/>
            <a:ext cx="548640" cy="822960"/>
          </a:xfrm>
          <a:prstGeom prst="rect">
            <a:avLst/>
          </a:prstGeom>
          <a:solidFill>
            <a:srgbClr val="10B981">
              <a:alpha val="35000"/>
            </a:srgbClr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86400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Multi-language: Hindi, Tamil, English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4370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UI and AI assistant in all three languages. Voice commands supported for low-literacy users.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RenoPay  •  Investor Deck 2025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20623" y="-402336"/>
            <a:ext cx="4572000" cy="4572000"/>
          </a:xfrm>
          <a:prstGeom prst="ellipse">
            <a:avLst/>
          </a:prstGeom>
          <a:solidFill>
            <a:srgbClr val="6E5AF0">
              <a:alpha val="12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00D9B4">
              <a:alpha val="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6E5AF0">
              <a:alpha val="15000"/>
            </a:srgbClr>
          </a:solidFill>
          <a:ln w="10160">
            <a:solidFill>
              <a:srgbClr val="6E5AF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kern="0" spc="200">
                <a:solidFill>
                  <a:srgbClr val="6E5AF0"/>
                </a:solidFill>
              </a:rPr>
              <a:t>WHAT IS RENOPAY</a:t>
            </a:r>
            <a:endParaRPr lang="en-US" sz="70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</a:rPr>
              <a:t>Beyond Payments —</a:t>
            </a:r>
            <a:endParaRPr lang="en-US" sz="2600"/>
          </a:p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</a:rPr>
              <a:t>A Financial Universe</a:t>
            </a:r>
            <a:endParaRPr lang="en-US" sz="260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402336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50">
                <a:solidFill>
                  <a:srgbClr val="7070A0"/>
                </a:solidFill>
              </a:rPr>
              <a:t>RenoPay is a full-stack UPI payment demo built in React/JSX that reimagines how Indians interact with money.</a:t>
            </a:r>
            <a:endParaRPr lang="en-US" sz="1150"/>
          </a:p>
          <a:p>
            <a:pPr marL="0" indent="0" algn="l">
              <a:buNone/>
            </a:pPr>
            <a:r>
              <a:rPr lang="en-US" sz="1150">
                <a:solidFill>
                  <a:srgbClr val="7070A0"/>
                </a:solidFill>
              </a:rPr>
              <a:t> </a:t>
            </a:r>
            <a:endParaRPr lang="en-US" sz="1150"/>
          </a:p>
          <a:p>
            <a:pPr marL="0" indent="0" algn="l">
              <a:buNone/>
            </a:pPr>
            <a:r>
              <a:rPr lang="en-US" sz="1150">
                <a:solidFill>
                  <a:srgbClr val="7070A0"/>
                </a:solidFill>
              </a:rPr>
              <a:t>Every feature — from drag-and-drop currency notes to SentinAI fraud detection — is designed to make every rupee feel real.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4846320" y="347472"/>
            <a:ext cx="1828800" cy="1261872"/>
          </a:xfrm>
          <a:prstGeom prst="rect">
            <a:avLst/>
          </a:prstGeom>
          <a:solidFill>
            <a:srgbClr val="12122B"/>
          </a:solidFill>
          <a:ln w="15240">
            <a:solidFill>
              <a:srgbClr val="6E5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937760" y="438912"/>
            <a:ext cx="329184" cy="329184"/>
          </a:xfrm>
          <a:prstGeom prst="ellipse">
            <a:avLst/>
          </a:prstGeom>
          <a:solidFill>
            <a:srgbClr val="6E5AF0">
              <a:alpha val="25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92040" y="621792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>
                <a:solidFill>
                  <a:srgbClr val="6E5AF0"/>
                </a:solidFill>
              </a:rPr>
              <a:t>15+</a:t>
            </a:r>
            <a:endParaRPr lang="en-US" sz="2600"/>
          </a:p>
        </p:txBody>
      </p:sp>
      <p:sp>
        <p:nvSpPr>
          <p:cNvPr id="11" name="Text 9"/>
          <p:cNvSpPr/>
          <p:nvPr/>
        </p:nvSpPr>
        <p:spPr>
          <a:xfrm>
            <a:off x="4892040" y="1152144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7070A0"/>
                </a:solidFill>
              </a:rPr>
              <a:t>Core Features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6949440" y="347472"/>
            <a:ext cx="1828800" cy="1261872"/>
          </a:xfrm>
          <a:prstGeom prst="rect">
            <a:avLst/>
          </a:prstGeom>
          <a:solidFill>
            <a:srgbClr val="12122B"/>
          </a:solidFill>
          <a:ln w="15240">
            <a:solidFill>
              <a:srgbClr val="00D9B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40880" y="438912"/>
            <a:ext cx="329184" cy="329184"/>
          </a:xfrm>
          <a:prstGeom prst="ellipse">
            <a:avLst/>
          </a:prstGeom>
          <a:solidFill>
            <a:srgbClr val="00D9B4">
              <a:alpha val="25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995160" y="621792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>
                <a:solidFill>
                  <a:srgbClr val="00D9B4"/>
                </a:solidFill>
              </a:rPr>
              <a:t>6-Layer</a:t>
            </a:r>
            <a:endParaRPr lang="en-US" sz="2600"/>
          </a:p>
        </p:txBody>
      </p:sp>
      <p:sp>
        <p:nvSpPr>
          <p:cNvPr id="15" name="Text 13"/>
          <p:cNvSpPr/>
          <p:nvPr/>
        </p:nvSpPr>
        <p:spPr>
          <a:xfrm>
            <a:off x="6995160" y="1152144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7070A0"/>
                </a:solidFill>
              </a:rPr>
              <a:t>Security Stack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4846320" y="1792224"/>
            <a:ext cx="1828800" cy="1261872"/>
          </a:xfrm>
          <a:prstGeom prst="rect">
            <a:avLst/>
          </a:prstGeom>
          <a:solidFill>
            <a:srgbClr val="12122B"/>
          </a:solidFill>
          <a:ln w="15240">
            <a:solidFill>
              <a:srgbClr val="F0BB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937760" y="1883664"/>
            <a:ext cx="329184" cy="329184"/>
          </a:xfrm>
          <a:prstGeom prst="ellipse">
            <a:avLst/>
          </a:prstGeom>
          <a:solidFill>
            <a:srgbClr val="F0BB3C">
              <a:alpha val="25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92040" y="2066544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>
                <a:solidFill>
                  <a:srgbClr val="F0BB3C"/>
                </a:solidFill>
              </a:rPr>
              <a:t>Real-Time</a:t>
            </a:r>
            <a:endParaRPr lang="en-US" sz="2600"/>
          </a:p>
        </p:txBody>
      </p:sp>
      <p:sp>
        <p:nvSpPr>
          <p:cNvPr id="19" name="Text 17"/>
          <p:cNvSpPr/>
          <p:nvPr/>
        </p:nvSpPr>
        <p:spPr>
          <a:xfrm>
            <a:off x="4892040" y="2596896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7070A0"/>
                </a:solidFill>
              </a:rPr>
              <a:t>Balance Sync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6949440" y="1792224"/>
            <a:ext cx="1828800" cy="1261872"/>
          </a:xfrm>
          <a:prstGeom prst="rect">
            <a:avLst/>
          </a:prstGeom>
          <a:solidFill>
            <a:srgbClr val="12122B"/>
          </a:solidFill>
          <a:ln w="15240">
            <a:solidFill>
              <a:srgbClr val="FF3D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040880" y="1883664"/>
            <a:ext cx="329184" cy="329184"/>
          </a:xfrm>
          <a:prstGeom prst="ellipse">
            <a:avLst/>
          </a:prstGeom>
          <a:solidFill>
            <a:srgbClr val="FF3D60">
              <a:alpha val="25000"/>
            </a:srgbClr>
          </a:solidFill>
          <a:ln w="12700">
            <a:solidFill>
              <a:srgbClr val="FF3D6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995160" y="2066544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>
                <a:solidFill>
                  <a:srgbClr val="FF3D60"/>
                </a:solidFill>
              </a:rPr>
              <a:t>AI-Powered</a:t>
            </a:r>
            <a:endParaRPr lang="en-US" sz="2600"/>
          </a:p>
        </p:txBody>
      </p:sp>
      <p:sp>
        <p:nvSpPr>
          <p:cNvPr id="23" name="Text 21"/>
          <p:cNvSpPr/>
          <p:nvPr/>
        </p:nvSpPr>
        <p:spPr>
          <a:xfrm>
            <a:off x="6995160" y="2596896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>
                <a:solidFill>
                  <a:srgbClr val="7070A0"/>
                </a:solidFill>
              </a:rPr>
              <a:t>Fraud Detection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457200" y="3310128"/>
            <a:ext cx="1901952" cy="292608"/>
          </a:xfrm>
          <a:prstGeom prst="rect">
            <a:avLst/>
          </a:prstGeom>
          <a:solidFill>
            <a:srgbClr val="0D0D1F"/>
          </a:solidFill>
          <a:ln w="1016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7200" y="3310128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>
                <a:solidFill>
                  <a:srgbClr val="E8E8FF"/>
                </a:solidFill>
              </a:rPr>
              <a:t>💸 Send &amp; Receive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2542032" y="3310128"/>
            <a:ext cx="1901952" cy="292608"/>
          </a:xfrm>
          <a:prstGeom prst="rect">
            <a:avLst/>
          </a:prstGeom>
          <a:solidFill>
            <a:srgbClr val="0D0D1F"/>
          </a:solidFill>
          <a:ln w="1016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542032" y="3310128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>
                <a:solidFill>
                  <a:srgbClr val="E8E8FF"/>
                </a:solidFill>
              </a:rPr>
              <a:t>📷 AR QR Scan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4626864" y="3310128"/>
            <a:ext cx="1901952" cy="292608"/>
          </a:xfrm>
          <a:prstGeom prst="rect">
            <a:avLst/>
          </a:prstGeom>
          <a:solidFill>
            <a:srgbClr val="0D0D1F"/>
          </a:solidFill>
          <a:ln w="1016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626864" y="3310128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>
                <a:solidFill>
                  <a:srgbClr val="E8E8FF"/>
                </a:solidFill>
              </a:rPr>
              <a:t>🧠 SentinAI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6711696" y="3310128"/>
            <a:ext cx="1901952" cy="292608"/>
          </a:xfrm>
          <a:prstGeom prst="rect">
            <a:avLst/>
          </a:prstGeom>
          <a:solidFill>
            <a:srgbClr val="0D0D1F"/>
          </a:solidFill>
          <a:ln w="1016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711696" y="3310128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>
                <a:solidFill>
                  <a:srgbClr val="E8E8FF"/>
                </a:solidFill>
              </a:rPr>
              <a:t>⚡ UPI Lite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457200" y="3712464"/>
            <a:ext cx="1901952" cy="292608"/>
          </a:xfrm>
          <a:prstGeom prst="rect">
            <a:avLst/>
          </a:prstGeom>
          <a:solidFill>
            <a:srgbClr val="0D0D1F"/>
          </a:solidFill>
          <a:ln w="1016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57200" y="3712464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>
                <a:solidFill>
                  <a:srgbClr val="E8E8FF"/>
                </a:solidFill>
              </a:rPr>
              <a:t>🪙 Digital Gold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2542032" y="3712464"/>
            <a:ext cx="1901952" cy="292608"/>
          </a:xfrm>
          <a:prstGeom prst="rect">
            <a:avLst/>
          </a:prstGeom>
          <a:solidFill>
            <a:srgbClr val="0D0D1F"/>
          </a:solidFill>
          <a:ln w="1016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542032" y="3712464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>
                <a:solidFill>
                  <a:srgbClr val="E8E8FF"/>
                </a:solidFill>
              </a:rPr>
              <a:t>🗺 Savings Goals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4626864" y="3712464"/>
            <a:ext cx="1901952" cy="292608"/>
          </a:xfrm>
          <a:prstGeom prst="rect">
            <a:avLst/>
          </a:prstGeom>
          <a:solidFill>
            <a:srgbClr val="0D0D1F"/>
          </a:solidFill>
          <a:ln w="1016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626864" y="3712464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>
                <a:solidFill>
                  <a:srgbClr val="E8E8FF"/>
                </a:solidFill>
              </a:rPr>
              <a:t>🎰 Scratch Cards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6711696" y="3712464"/>
            <a:ext cx="1901952" cy="292608"/>
          </a:xfrm>
          <a:prstGeom prst="rect">
            <a:avLst/>
          </a:prstGeom>
          <a:solidFill>
            <a:srgbClr val="0D0D1F"/>
          </a:solidFill>
          <a:ln w="1016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711696" y="3712464"/>
            <a:ext cx="19019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>
                <a:solidFill>
                  <a:srgbClr val="E8E8FF"/>
                </a:solidFill>
              </a:rPr>
              <a:t>📋 Subscriptions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 flipH="1">
            <a:off x="4389120" y="320040"/>
            <a:ext cx="0" cy="3090672"/>
          </a:xfrm>
          <a:prstGeom prst="line">
            <a:avLst/>
          </a:prstGeom>
          <a:noFill/>
          <a:ln w="1016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E5AF0">
              <a:alpha val="12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00D9B4">
              <a:alpha val="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00D9B4">
              <a:alpha val="15000"/>
            </a:srgbClr>
          </a:solidFill>
          <a:ln w="10160">
            <a:solidFill>
              <a:srgbClr val="00D9B4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kern="0" spc="200">
                <a:solidFill>
                  <a:srgbClr val="00D9B4"/>
                </a:solidFill>
              </a:rPr>
              <a:t>TECH ARCHITECTURE</a:t>
            </a:r>
            <a:endParaRPr lang="en-US" sz="70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</a:rPr>
              <a:t>Frontend &amp; Backend Stack</a:t>
            </a:r>
            <a:endParaRPr lang="en-US" sz="300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794760" cy="3474720"/>
          </a:xfrm>
          <a:prstGeom prst="rect">
            <a:avLst/>
          </a:prstGeom>
          <a:solidFill>
            <a:srgbClr val="12122B"/>
          </a:solidFill>
          <a:ln w="15240">
            <a:solidFill>
              <a:srgbClr val="6E5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794760" cy="402336"/>
          </a:xfrm>
          <a:prstGeom prst="rect">
            <a:avLst/>
          </a:prstGeom>
          <a:solidFill>
            <a:srgbClr val="6E5AF0"/>
          </a:solidFill>
          <a:ln w="12700">
            <a:solidFill>
              <a:srgbClr val="6E5AF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3794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kern="0" spc="200">
                <a:solidFill>
                  <a:srgbClr val="FFFFFF"/>
                </a:solidFill>
              </a:rPr>
              <a:t>⚛  FRONTEND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630936" y="1636776"/>
            <a:ext cx="329184" cy="329184"/>
          </a:xfrm>
          <a:prstGeom prst="ellipse">
            <a:avLst/>
          </a:prstGeom>
          <a:solidFill>
            <a:srgbClr val="6E5AF0">
              <a:alpha val="28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8368" y="16550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⚛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005840" y="165506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>
                <a:solidFill>
                  <a:srgbClr val="E8E8FF"/>
                </a:solidFill>
              </a:rPr>
              <a:t>React / JSX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005840" y="1847088"/>
            <a:ext cx="309067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Component-based UI with hooks: useState, useEffect, useRef, useCallback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630936" y="2203704"/>
            <a:ext cx="329184" cy="329184"/>
          </a:xfrm>
          <a:prstGeom prst="ellipse">
            <a:avLst/>
          </a:prstGeom>
          <a:solidFill>
            <a:srgbClr val="6E5AF0">
              <a:alpha val="28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58368" y="22219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🎨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1005840" y="2221992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>
                <a:solidFill>
                  <a:srgbClr val="E8E8FF"/>
                </a:solidFill>
              </a:rPr>
              <a:t>CSS-in-JS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005840" y="2414016"/>
            <a:ext cx="309067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Inline styles with dynamic theming — zero external CSS library dependency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630936" y="2770632"/>
            <a:ext cx="329184" cy="329184"/>
          </a:xfrm>
          <a:prstGeom prst="ellipse">
            <a:avLst/>
          </a:prstGeom>
          <a:solidFill>
            <a:srgbClr val="6E5AF0">
              <a:alpha val="28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8368" y="27889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✍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1005840" y="278892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>
                <a:solidFill>
                  <a:srgbClr val="E8E8FF"/>
                </a:solidFill>
              </a:rPr>
              <a:t>Outfit + Space Mono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1005840" y="2980944"/>
            <a:ext cx="309067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Custom Google Fonts for expressive, premium typography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630936" y="3337560"/>
            <a:ext cx="329184" cy="329184"/>
          </a:xfrm>
          <a:prstGeom prst="ellipse">
            <a:avLst/>
          </a:prstGeom>
          <a:solidFill>
            <a:srgbClr val="6E5AF0">
              <a:alpha val="28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8368" y="33558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🖼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1005840" y="335584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>
                <a:solidFill>
                  <a:srgbClr val="E8E8FF"/>
                </a:solidFill>
              </a:rPr>
              <a:t>SVG Currency Notes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1005840" y="3547872"/>
            <a:ext cx="309067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Hand-crafted ₹500, ₹200, ₹100, ₹50, ₹20, ₹10 notes + ₹5/₹2/₹1 coins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630936" y="3904488"/>
            <a:ext cx="329184" cy="329184"/>
          </a:xfrm>
          <a:prstGeom prst="ellipse">
            <a:avLst/>
          </a:prstGeom>
          <a:solidFill>
            <a:srgbClr val="6E5AF0">
              <a:alpha val="28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58368" y="3922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📱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1005840" y="392277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>
                <a:solidFill>
                  <a:srgbClr val="E8E8FF"/>
                </a:solidFill>
              </a:rPr>
              <a:t>Mobile-First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1005840" y="4114800"/>
            <a:ext cx="309067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430px viewport, touch events, Device Orientation API for anti-peek PIN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4572000" y="1143000"/>
            <a:ext cx="4114800" cy="3474720"/>
          </a:xfrm>
          <a:prstGeom prst="rect">
            <a:avLst/>
          </a:prstGeom>
          <a:solidFill>
            <a:srgbClr val="12122B"/>
          </a:solidFill>
          <a:ln w="15240">
            <a:solidFill>
              <a:srgbClr val="00D9B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572000" y="1143000"/>
            <a:ext cx="4114800" cy="402336"/>
          </a:xfrm>
          <a:prstGeom prst="rect">
            <a:avLst/>
          </a:prstGeom>
          <a:solidFill>
            <a:srgbClr val="00D9B4"/>
          </a:solidFill>
          <a:ln w="12700">
            <a:solidFill>
              <a:srgbClr val="00D9B4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572000" y="1143000"/>
            <a:ext cx="4114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kern="0" spc="200">
                <a:solidFill>
                  <a:srgbClr val="030310"/>
                </a:solidFill>
              </a:rPr>
              <a:t>🗄  BACKEND / SERVICES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4745736" y="1636776"/>
            <a:ext cx="329184" cy="329184"/>
          </a:xfrm>
          <a:prstGeom prst="ellipse">
            <a:avLst/>
          </a:prstGeom>
          <a:solidFill>
            <a:srgbClr val="00D9B4">
              <a:alpha val="2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54880" y="16550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🗃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5102352" y="1655064"/>
            <a:ext cx="3456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>
                <a:solidFill>
                  <a:srgbClr val="E8E8FF"/>
                </a:solidFill>
              </a:rPr>
              <a:t>In-Memory DB (DB object)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5102352" y="1847088"/>
            <a:ext cx="345643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Users, accounts, transactions, requests, subscriptions, mandates, savings goals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4745736" y="2203704"/>
            <a:ext cx="329184" cy="329184"/>
          </a:xfrm>
          <a:prstGeom prst="ellipse">
            <a:avLst/>
          </a:prstGeom>
          <a:solidFill>
            <a:srgbClr val="00D9B4">
              <a:alpha val="2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22219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🔧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5102352" y="2221992"/>
            <a:ext cx="3456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>
                <a:solidFill>
                  <a:srgbClr val="E8E8FF"/>
                </a:solidFill>
              </a:rPr>
              <a:t>DatabaseService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5102352" y="2414016"/>
            <a:ext cx="345643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30+ pure JS functions: registerUser, sendMoney, addToSavings, getMandates…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4745736" y="2770632"/>
            <a:ext cx="329184" cy="329184"/>
          </a:xfrm>
          <a:prstGeom prst="ellipse">
            <a:avLst/>
          </a:prstGeom>
          <a:solidFill>
            <a:srgbClr val="00D9B4">
              <a:alpha val="2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754880" y="27889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📡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5102352" y="2788920"/>
            <a:ext cx="3456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>
                <a:solidFill>
                  <a:srgbClr val="E8E8FF"/>
                </a:solidFill>
              </a:rPr>
              <a:t>MockBackend API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5102352" y="2980944"/>
            <a:ext cx="345643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Simulates OTP verify, VPA resolution, PIN check — production-ready API contract</a:t>
            </a:r>
            <a:endParaRPr lang="en-US" sz="850"/>
          </a:p>
        </p:txBody>
      </p:sp>
      <p:sp>
        <p:nvSpPr>
          <p:cNvPr id="45" name="Shape 43"/>
          <p:cNvSpPr/>
          <p:nvPr/>
        </p:nvSpPr>
        <p:spPr>
          <a:xfrm>
            <a:off x="4745736" y="3337560"/>
            <a:ext cx="329184" cy="329184"/>
          </a:xfrm>
          <a:prstGeom prst="ellipse">
            <a:avLst/>
          </a:prstGeom>
          <a:solidFill>
            <a:srgbClr val="00D9B4">
              <a:alpha val="2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754880" y="33558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🧠</a:t>
            </a:r>
            <a:endParaRPr lang="en-US" sz="1100"/>
          </a:p>
        </p:txBody>
      </p:sp>
      <p:sp>
        <p:nvSpPr>
          <p:cNvPr id="47" name="Text 45"/>
          <p:cNvSpPr/>
          <p:nvPr/>
        </p:nvSpPr>
        <p:spPr>
          <a:xfrm>
            <a:off x="5102352" y="3355848"/>
            <a:ext cx="3456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>
                <a:solidFill>
                  <a:srgbClr val="E8E8FF"/>
                </a:solidFill>
              </a:rPr>
              <a:t>SentinAI Engine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5102352" y="3547872"/>
            <a:ext cx="345643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7-signal fraud analysis + real-time budget prediction (burn rate → month-end)</a:t>
            </a:r>
            <a:endParaRPr lang="en-US" sz="850"/>
          </a:p>
        </p:txBody>
      </p:sp>
      <p:sp>
        <p:nvSpPr>
          <p:cNvPr id="49" name="Shape 47"/>
          <p:cNvSpPr/>
          <p:nvPr/>
        </p:nvSpPr>
        <p:spPr>
          <a:xfrm>
            <a:off x="4745736" y="3904488"/>
            <a:ext cx="329184" cy="329184"/>
          </a:xfrm>
          <a:prstGeom prst="ellipse">
            <a:avLst/>
          </a:prstGeom>
          <a:solidFill>
            <a:srgbClr val="00D9B4">
              <a:alpha val="2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4754880" y="392277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000000"/>
                </a:solidFill>
              </a:rPr>
              <a:t>🔐</a:t>
            </a:r>
            <a:endParaRPr lang="en-US" sz="1100"/>
          </a:p>
        </p:txBody>
      </p:sp>
      <p:sp>
        <p:nvSpPr>
          <p:cNvPr id="51" name="Text 49"/>
          <p:cNvSpPr/>
          <p:nvPr/>
        </p:nvSpPr>
        <p:spPr>
          <a:xfrm>
            <a:off x="5102352" y="3922776"/>
            <a:ext cx="3456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 b="1">
                <a:solidFill>
                  <a:srgbClr val="E8E8FF"/>
                </a:solidFill>
              </a:rPr>
              <a:t>Virtual Account System</a:t>
            </a:r>
            <a:endParaRPr lang="en-US" sz="1000"/>
          </a:p>
        </p:txBody>
      </p:sp>
      <p:sp>
        <p:nvSpPr>
          <p:cNvPr id="52" name="Text 50"/>
          <p:cNvSpPr/>
          <p:nvPr/>
        </p:nvSpPr>
        <p:spPr>
          <a:xfrm>
            <a:off x="5102352" y="4114800"/>
            <a:ext cx="3456432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Auto-generates VPA, virtual A/c No, IFSC RAZR0000001 at registration</a:t>
            </a:r>
            <a:endParaRPr lang="en-US" sz="85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 SentinAI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Fraud Prevention Engine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" y="169164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2039112"/>
            <a:ext cx="731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Initiated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payee UPI ID and amount in RenoPay.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77640" y="2039112"/>
            <a:ext cx="731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60604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926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SentinAI checks 40+ signals: payee age, transaction velocity, social graph, device fingerprint.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0" y="169164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2039112"/>
            <a:ext cx="731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75488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926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risk? Payment is paused and user gets plain-language warning before confirming.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52360" y="169164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Shield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2926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fraud reports crowd-source the model — making it smarter for all 500M+ users.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1920240" cy="868680"/>
          </a:xfrm>
          <a:prstGeom prst="rect">
            <a:avLst/>
          </a:prstGeom>
          <a:solidFill>
            <a:srgbClr val="1A1F3A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97.3%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720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06040" y="3794760"/>
            <a:ext cx="1920240" cy="868680"/>
          </a:xfrm>
          <a:prstGeom prst="rect">
            <a:avLst/>
          </a:prstGeom>
          <a:solidFill>
            <a:srgbClr val="1A1F3A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&lt;80ms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260604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794760"/>
            <a:ext cx="1920240" cy="868680"/>
          </a:xfrm>
          <a:prstGeom prst="rect">
            <a:avLst/>
          </a:prstGeom>
          <a:solidFill>
            <a:srgbClr val="1A1F3A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75488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Cost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03720" y="3794760"/>
            <a:ext cx="1920240" cy="868680"/>
          </a:xfrm>
          <a:prstGeom prst="rect">
            <a:avLst/>
          </a:prstGeom>
          <a:solidFill>
            <a:srgbClr val="1A1F3A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40+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90372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RenoPay  •  Investor Deck 2025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E5AF0">
              <a:alpha val="12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00D9B4">
              <a:alpha val="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F3D60">
              <a:alpha val="12000"/>
            </a:srgbClr>
          </a:solidFill>
          <a:ln w="12700">
            <a:solidFill>
              <a:srgbClr val="FF3D6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FF3D60">
              <a:alpha val="15000"/>
            </a:srgbClr>
          </a:solidFill>
          <a:ln w="10160">
            <a:solidFill>
              <a:srgbClr val="FF3D6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kern="0" spc="200">
                <a:solidFill>
                  <a:srgbClr val="FF3D60"/>
                </a:solidFill>
              </a:rPr>
              <a:t>SENTINAI — FRAUD ENGINE</a:t>
            </a:r>
            <a:endParaRPr lang="en-US" sz="70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5486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The AI Brain Behind</a:t>
            </a:r>
            <a:endParaRPr lang="en-US" sz="2800"/>
          </a:p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Every Transaction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>
                <a:solidFill>
                  <a:srgbClr val="7070A0"/>
                </a:solidFill>
              </a:rPr>
              <a:t>7 real-time signals analyzed before every payment is approved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6583680" y="256032"/>
            <a:ext cx="2103120" cy="2304288"/>
          </a:xfrm>
          <a:prstGeom prst="rect">
            <a:avLst/>
          </a:prstGeom>
          <a:solidFill>
            <a:srgbClr val="0D0D1F"/>
          </a:solidFill>
          <a:ln w="15240">
            <a:solidFill>
              <a:srgbClr val="FF3D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83680" y="3474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kern="0" spc="200">
                <a:solidFill>
                  <a:srgbClr val="7070A0"/>
                </a:solidFill>
              </a:rPr>
              <a:t>RISK LEVELS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6784848" y="676656"/>
            <a:ext cx="1700784" cy="402336"/>
          </a:xfrm>
          <a:prstGeom prst="rect">
            <a:avLst/>
          </a:prstGeom>
          <a:solidFill>
            <a:srgbClr val="00D9B4">
              <a:alpha val="18000"/>
            </a:srgbClr>
          </a:solidFill>
          <a:ln w="12700">
            <a:solidFill>
              <a:srgbClr val="00D9B4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784848" y="676656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00D9B4"/>
                </a:solidFill>
              </a:rPr>
              <a:t>LOW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7333488" y="676656"/>
            <a:ext cx="11521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00D9B4"/>
                </a:solidFill>
              </a:rPr>
              <a:t>93–100% Trust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6784848" y="1207008"/>
            <a:ext cx="1700784" cy="402336"/>
          </a:xfrm>
          <a:prstGeom prst="rect">
            <a:avLst/>
          </a:prstGeom>
          <a:solidFill>
            <a:srgbClr val="FF9F2E">
              <a:alpha val="18000"/>
            </a:srgbClr>
          </a:solidFill>
          <a:ln w="12700">
            <a:solidFill>
              <a:srgbClr val="FF9F2E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784848" y="1207008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9F2E"/>
                </a:solidFill>
              </a:rPr>
              <a:t>MED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7333488" y="1207008"/>
            <a:ext cx="11521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FF9F2E"/>
                </a:solidFill>
              </a:rPr>
              <a:t>75–90% Trust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6784848" y="1737360"/>
            <a:ext cx="1700784" cy="402336"/>
          </a:xfrm>
          <a:prstGeom prst="rect">
            <a:avLst/>
          </a:prstGeom>
          <a:solidFill>
            <a:srgbClr val="FF3D60">
              <a:alpha val="18000"/>
            </a:srgbClr>
          </a:solidFill>
          <a:ln w="12700">
            <a:solidFill>
              <a:srgbClr val="FF3D6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84848" y="1737360"/>
            <a:ext cx="548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3D60"/>
                </a:solidFill>
              </a:rPr>
              <a:t>HIGH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7333488" y="1737360"/>
            <a:ext cx="115214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FF3D60"/>
                </a:solidFill>
              </a:rPr>
              <a:t>40–70% Trust</a:t>
            </a:r>
            <a:endParaRPr lang="en-US" sz="850"/>
          </a:p>
        </p:txBody>
      </p:sp>
      <p:sp>
        <p:nvSpPr>
          <p:cNvPr id="20" name="Text 18"/>
          <p:cNvSpPr/>
          <p:nvPr/>
        </p:nvSpPr>
        <p:spPr>
          <a:xfrm>
            <a:off x="6583680" y="22494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>
                <a:solidFill>
                  <a:srgbClr val="FF3D60"/>
                </a:solidFill>
              </a:rPr>
              <a:t>Blocked if 2+ high-risk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FF3D60"/>
                </a:solidFill>
              </a:rPr>
              <a:t>signals detected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457200" y="1865376"/>
            <a:ext cx="1874520" cy="1188720"/>
          </a:xfrm>
          <a:prstGeom prst="rect">
            <a:avLst/>
          </a:prstGeom>
          <a:solidFill>
            <a:srgbClr val="12122B"/>
          </a:solidFill>
          <a:ln w="15240">
            <a:solidFill>
              <a:srgbClr val="FF3D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39496" y="1947672"/>
            <a:ext cx="402336" cy="402336"/>
          </a:xfrm>
          <a:prstGeom prst="ellipse">
            <a:avLst/>
          </a:prstGeom>
          <a:solidFill>
            <a:srgbClr val="FF3D60">
              <a:alpha val="22000"/>
            </a:srgbClr>
          </a:solidFill>
          <a:ln w="12700">
            <a:solidFill>
              <a:srgbClr val="FF3D6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66928" y="19751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</a:rPr>
              <a:t>🌍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1005840" y="1975104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FF3D60"/>
                </a:solidFill>
              </a:rPr>
              <a:t>Geo-Velocity Fraud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548640" y="2414016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Detects impossible travel — Mumbai→Delhi in &lt;2hrs triggers block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2514600" y="1865376"/>
            <a:ext cx="1874520" cy="1188720"/>
          </a:xfrm>
          <a:prstGeom prst="rect">
            <a:avLst/>
          </a:prstGeom>
          <a:solidFill>
            <a:srgbClr val="12122B"/>
          </a:solidFill>
          <a:ln w="15240">
            <a:solidFill>
              <a:srgbClr val="6E5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2596896" y="1947672"/>
            <a:ext cx="402336" cy="402336"/>
          </a:xfrm>
          <a:prstGeom prst="ellipse">
            <a:avLst/>
          </a:prstGeom>
          <a:solidFill>
            <a:srgbClr val="6E5AF0">
              <a:alpha val="22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624328" y="19751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</a:rPr>
              <a:t>🤖</a:t>
            </a:r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3063240" y="1975104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6E5AF0"/>
                </a:solidFill>
              </a:rPr>
              <a:t>Bot Speed Detection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2606040" y="2414016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Note-entry faster than human capability flagged as automated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4572000" y="1865376"/>
            <a:ext cx="1874520" cy="1188720"/>
          </a:xfrm>
          <a:prstGeom prst="rect">
            <a:avLst/>
          </a:prstGeom>
          <a:solidFill>
            <a:srgbClr val="12122B"/>
          </a:solidFill>
          <a:ln w="15240">
            <a:solidFill>
              <a:srgbClr val="00D9B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654296" y="1947672"/>
            <a:ext cx="402336" cy="402336"/>
          </a:xfrm>
          <a:prstGeom prst="ellipse">
            <a:avLst/>
          </a:prstGeom>
          <a:solidFill>
            <a:srgbClr val="00D9B4">
              <a:alpha val="22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681728" y="19751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</a:rPr>
              <a:t>📱</a:t>
            </a:r>
            <a:endParaRPr lang="en-US" sz="1500"/>
          </a:p>
        </p:txBody>
      </p:sp>
      <p:sp>
        <p:nvSpPr>
          <p:cNvPr id="34" name="Text 32"/>
          <p:cNvSpPr/>
          <p:nvPr/>
        </p:nvSpPr>
        <p:spPr>
          <a:xfrm>
            <a:off x="5120640" y="1975104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00D9B4"/>
                </a:solidFill>
              </a:rPr>
              <a:t>Device Trust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663440" y="2414016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Unrecognized device triggers extra verification + Privacy Code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457200" y="3236976"/>
            <a:ext cx="1874520" cy="1188720"/>
          </a:xfrm>
          <a:prstGeom prst="rect">
            <a:avLst/>
          </a:prstGeom>
          <a:solidFill>
            <a:srgbClr val="12122B"/>
          </a:solidFill>
          <a:ln w="15240">
            <a:solidFill>
              <a:srgbClr val="FF9F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539496" y="3319272"/>
            <a:ext cx="402336" cy="402336"/>
          </a:xfrm>
          <a:prstGeom prst="ellipse">
            <a:avLst/>
          </a:prstGeom>
          <a:solidFill>
            <a:srgbClr val="FF9F2E">
              <a:alpha val="22000"/>
            </a:srgbClr>
          </a:solidFill>
          <a:ln w="12700">
            <a:solidFill>
              <a:srgbClr val="FF9F2E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66928" y="33467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</a:rPr>
              <a:t>🌙</a:t>
            </a:r>
            <a:endParaRPr lang="en-US" sz="1500"/>
          </a:p>
        </p:txBody>
      </p:sp>
      <p:sp>
        <p:nvSpPr>
          <p:cNvPr id="39" name="Text 37"/>
          <p:cNvSpPr/>
          <p:nvPr/>
        </p:nvSpPr>
        <p:spPr>
          <a:xfrm>
            <a:off x="1005840" y="3346704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FF9F2E"/>
                </a:solidFill>
              </a:rPr>
              <a:t>Odd-Hours Alert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548640" y="3785616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Transactions between 1–4 AM automatically flagged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2514600" y="3236976"/>
            <a:ext cx="1874520" cy="1188720"/>
          </a:xfrm>
          <a:prstGeom prst="rect">
            <a:avLst/>
          </a:prstGeom>
          <a:solidFill>
            <a:srgbClr val="12122B"/>
          </a:solidFill>
          <a:ln w="15240">
            <a:solidFill>
              <a:srgbClr val="F0BB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2596896" y="3319272"/>
            <a:ext cx="402336" cy="402336"/>
          </a:xfrm>
          <a:prstGeom prst="ellipse">
            <a:avLst/>
          </a:prstGeom>
          <a:solidFill>
            <a:srgbClr val="F0BB3C">
              <a:alpha val="22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2624328" y="33467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</a:rPr>
              <a:t>⚡</a:t>
            </a:r>
            <a:endParaRPr lang="en-US" sz="1500"/>
          </a:p>
        </p:txBody>
      </p:sp>
      <p:sp>
        <p:nvSpPr>
          <p:cNvPr id="44" name="Text 42"/>
          <p:cNvSpPr/>
          <p:nvPr/>
        </p:nvSpPr>
        <p:spPr>
          <a:xfrm>
            <a:off x="3063240" y="3346704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F0BB3C"/>
                </a:solidFill>
              </a:rPr>
              <a:t>Impulsive Spend</a:t>
            </a:r>
            <a:endParaRPr lang="en-US" sz="900"/>
          </a:p>
        </p:txBody>
      </p:sp>
      <p:sp>
        <p:nvSpPr>
          <p:cNvPr id="45" name="Text 43"/>
          <p:cNvSpPr/>
          <p:nvPr/>
        </p:nvSpPr>
        <p:spPr>
          <a:xfrm>
            <a:off x="2606040" y="3785616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Fast transaction speed tracked as impulsive behavior indicator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4572000" y="3236976"/>
            <a:ext cx="1874520" cy="1188720"/>
          </a:xfrm>
          <a:prstGeom prst="rect">
            <a:avLst/>
          </a:prstGeom>
          <a:solidFill>
            <a:srgbClr val="12122B"/>
          </a:solidFill>
          <a:ln w="15240">
            <a:solidFill>
              <a:srgbClr val="FF3D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4654296" y="3319272"/>
            <a:ext cx="402336" cy="402336"/>
          </a:xfrm>
          <a:prstGeom prst="ellipse">
            <a:avLst/>
          </a:prstGeom>
          <a:solidFill>
            <a:srgbClr val="FF3D60">
              <a:alpha val="22000"/>
            </a:srgbClr>
          </a:solidFill>
          <a:ln w="12700">
            <a:solidFill>
              <a:srgbClr val="FF3D6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4681728" y="33467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>
                <a:solidFill>
                  <a:srgbClr val="000000"/>
                </a:solidFill>
              </a:rPr>
              <a:t>💰</a:t>
            </a:r>
            <a:endParaRPr lang="en-US" sz="1500"/>
          </a:p>
        </p:txBody>
      </p:sp>
      <p:sp>
        <p:nvSpPr>
          <p:cNvPr id="49" name="Text 47"/>
          <p:cNvSpPr/>
          <p:nvPr/>
        </p:nvSpPr>
        <p:spPr>
          <a:xfrm>
            <a:off x="5120640" y="3346704"/>
            <a:ext cx="1234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FF3D60"/>
                </a:solidFill>
              </a:rPr>
              <a:t>High-Amount Flag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4663440" y="3785616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Transactions over ₹2,000 trigger full multi-factor auth flow</a:t>
            </a:r>
            <a:endParaRPr lang="en-US" sz="850"/>
          </a:p>
        </p:txBody>
      </p:sp>
      <p:sp>
        <p:nvSpPr>
          <p:cNvPr id="51" name="Shape 49"/>
          <p:cNvSpPr/>
          <p:nvPr/>
        </p:nvSpPr>
        <p:spPr>
          <a:xfrm>
            <a:off x="457200" y="4489704"/>
            <a:ext cx="6188400" cy="457200"/>
          </a:xfrm>
          <a:prstGeom prst="rect">
            <a:avLst/>
          </a:prstGeom>
          <a:solidFill>
            <a:srgbClr val="0D0D1F"/>
          </a:solidFill>
          <a:ln w="15240">
            <a:solidFill>
              <a:srgbClr val="F0BB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40080" y="4370832"/>
            <a:ext cx="1527120" cy="654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b="1" dirty="0">
                <a:solidFill>
                  <a:srgbClr val="F0BB3C"/>
                </a:solidFill>
              </a:rPr>
              <a:t>📊  BUDGET PREDICTION: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011680" y="4425696"/>
            <a:ext cx="43434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solidFill>
                  <a:srgbClr val="7070A0"/>
                </a:solidFill>
              </a:rPr>
              <a:t>Calculates daily burn rate from 30 days of debits → predicts if balance runs out before month-end → shows Caution/Critical alerts on Home screen</a:t>
            </a:r>
            <a:endParaRPr lang="en-US" sz="850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0D4AA">
              <a:alpha val="8000"/>
            </a:srgbClr>
          </a:solidFill>
          <a:ln w="12700">
            <a:solidFill>
              <a:srgbClr val="00D4AA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🎙️  VOICE UPI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anyone — just by speaking. Designed for Bharat.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05840" cy="1005840"/>
          </a:xfrm>
          <a:prstGeom prst="ellipse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🗣️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1892808"/>
            <a:ext cx="502920" cy="0"/>
          </a:xfrm>
          <a:prstGeom prst="line">
            <a:avLst/>
          </a:prstGeom>
          <a:noFill/>
          <a:ln w="25400">
            <a:solidFill>
              <a:srgbClr val="2A30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20040" y="2560320"/>
            <a:ext cx="2011680" cy="1600200"/>
          </a:xfrm>
          <a:prstGeom prst="rect">
            <a:avLst/>
          </a:prstGeom>
          <a:solidFill>
            <a:srgbClr val="181C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560320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Speaks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" y="29992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 five hundred rupees to Praveen for lunch"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Hindi, Tamil &amp; English naturally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99232" y="1417320"/>
            <a:ext cx="1005840" cy="1005840"/>
          </a:xfrm>
          <a:prstGeom prst="ellipse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73552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96512" y="1892808"/>
            <a:ext cx="502920" cy="0"/>
          </a:xfrm>
          <a:prstGeom prst="line">
            <a:avLst/>
          </a:prstGeom>
          <a:noFill/>
          <a:ln w="25400">
            <a:solidFill>
              <a:srgbClr val="2A305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496312" y="2560320"/>
            <a:ext cx="2011680" cy="1600200"/>
          </a:xfrm>
          <a:prstGeom prst="rect">
            <a:avLst/>
          </a:prstGeom>
          <a:solidFill>
            <a:srgbClr val="181C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96312" y="2560320"/>
            <a:ext cx="20116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96312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Parses Intent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9464" y="29992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Amount: ₹500  |  Recipient: Praveen  |  Note: lunch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9464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3 fields in &lt;200ms locally on-device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75504" y="1417320"/>
            <a:ext cx="1005840" cy="100584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75504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49824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72784" y="1892808"/>
            <a:ext cx="502920" cy="0"/>
          </a:xfrm>
          <a:prstGeom prst="line">
            <a:avLst/>
          </a:prstGeom>
          <a:noFill/>
          <a:ln w="25400">
            <a:solidFill>
              <a:srgbClr val="2A305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672584" y="2560320"/>
            <a:ext cx="2011680" cy="1600200"/>
          </a:xfrm>
          <a:prstGeom prst="rect">
            <a:avLst/>
          </a:prstGeom>
          <a:solidFill>
            <a:srgbClr val="181C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2584" y="256032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72584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Auto-Fills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45736" y="29992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screen pre-populated with all extracted data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45736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just reviews and confirms — zero typing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51776" y="1417320"/>
            <a:ext cx="1005840" cy="1005840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51776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626096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48856" y="2560320"/>
            <a:ext cx="2011680" cy="1600200"/>
          </a:xfrm>
          <a:prstGeom prst="rect">
            <a:avLst/>
          </a:prstGeom>
          <a:solidFill>
            <a:srgbClr val="181C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8856" y="256032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8856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SentinAI Clears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22008" y="299923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SentinAI trust score → biometric confirm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22008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fraud analysis still runs — voice doesn't bypass security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343400"/>
            <a:ext cx="8412480" cy="347472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343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India has 300M+ low-literacy UPI users. Voice UPI removes the biggest barrier to financial inclusion — the keyboard.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RenoPay  •  Confidential  •  2025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2194560" cy="2926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PROBLEM → SOLUTION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3840480" cy="4251960"/>
          </a:xfrm>
          <a:prstGeom prst="rect">
            <a:avLst/>
          </a:prstGeom>
          <a:solidFill>
            <a:srgbClr val="1E1A3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40080"/>
            <a:ext cx="384048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9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C4899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 Don't Feel the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Pain of Losing Money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383280" cy="1051560"/>
          </a:xfrm>
          <a:prstGeom prst="rect">
            <a:avLst/>
          </a:prstGeom>
          <a:solidFill>
            <a:srgbClr val="2A1F4A"/>
          </a:solidFill>
          <a:ln w="12700">
            <a:solidFill>
              <a:srgbClr val="3D2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29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7DD1"/>
                </a:solidFill>
              </a:rPr>
              <a:t>Traditional UPI Flow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331720"/>
            <a:ext cx="914400" cy="502920"/>
          </a:xfrm>
          <a:prstGeom prst="rect">
            <a:avLst/>
          </a:prstGeom>
          <a:solidFill>
            <a:srgbClr val="2E2060"/>
          </a:solidFill>
          <a:ln w="12700">
            <a:solidFill>
              <a:srgbClr val="5A4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Type ₹500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423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7DD1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91640" y="2331720"/>
            <a:ext cx="914400" cy="502920"/>
          </a:xfrm>
          <a:prstGeom prst="rect">
            <a:avLst/>
          </a:prstGeom>
          <a:solidFill>
            <a:srgbClr val="2E2060"/>
          </a:solidFill>
          <a:ln w="12700">
            <a:solidFill>
              <a:srgbClr val="5A4A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Enter PIN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2423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7DD1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88920" y="2331720"/>
            <a:ext cx="914400" cy="502920"/>
          </a:xfrm>
          <a:prstGeom prst="rect">
            <a:avLst/>
          </a:prstGeom>
          <a:solidFill>
            <a:srgbClr val="1A4A2A"/>
          </a:solidFill>
          <a:ln w="12700">
            <a:solidFill>
              <a:srgbClr val="5A4A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23317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Done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971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</a:rPr>
              <a:t>No emotional connection — money feels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4B5FD"/>
                </a:solidFill>
              </a:rPr>
              <a:t>abstract, invisible, consequence-free.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593592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₹ feels like just a number on screen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941064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913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No hesitation before sending large amounts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288536"/>
            <a:ext cx="182880" cy="1828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261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Overspending becomes effortless &amp; invisible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640080"/>
            <a:ext cx="3840480" cy="4251960"/>
          </a:xfrm>
          <a:prstGeom prst="rect">
            <a:avLst/>
          </a:prstGeom>
          <a:solidFill>
            <a:srgbClr val="1A1433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640080"/>
            <a:ext cx="384048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749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4AA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107899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RenoPay Note Slider™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Pain of Giving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230368" y="2011680"/>
            <a:ext cx="3438144" cy="1417320"/>
          </a:xfrm>
          <a:prstGeom prst="rect">
            <a:avLst/>
          </a:prstGeom>
          <a:solidFill>
            <a:srgbClr val="0F2B1F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202996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ECCA3"/>
                </a:solidFill>
              </a:rPr>
              <a:t>Drag Banknotes to Pay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13248" y="2377440"/>
            <a:ext cx="777240" cy="438912"/>
          </a:xfrm>
          <a:prstGeom prst="rect">
            <a:avLst/>
          </a:prstGeom>
          <a:solidFill>
            <a:srgbClr val="1E6B3D"/>
          </a:solidFill>
          <a:ln w="12700">
            <a:solidFill>
              <a:srgbClr val="4ECC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13248" y="237744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CA3"/>
                </a:solidFill>
              </a:rPr>
              <a:t>₹500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68112" y="2432304"/>
            <a:ext cx="777240" cy="438912"/>
          </a:xfrm>
          <a:prstGeom prst="rect">
            <a:avLst/>
          </a:prstGeom>
          <a:solidFill>
            <a:srgbClr val="196035"/>
          </a:solidFill>
          <a:ln w="12700">
            <a:solidFill>
              <a:srgbClr val="4ECC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68112" y="243230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CA3"/>
                </a:solidFill>
              </a:rPr>
              <a:t>₹500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24688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drag 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42048" y="2359152"/>
            <a:ext cx="640080" cy="640080"/>
          </a:xfrm>
          <a:prstGeom prst="ellipse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2359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150608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4B5FD"/>
                </a:solidFill>
              </a:rPr>
              <a:t>Praveen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21808" y="3310128"/>
            <a:ext cx="3255264" cy="109728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21808" y="3310128"/>
            <a:ext cx="1920240" cy="1097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21808" y="3438144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</a:rPr>
              <a:t>₹1,000 of ₹1,500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230368" y="3730752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58968" y="37124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</a:rPr>
              <a:t>Drag real currency notes — makes spending tangible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230368" y="4078224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58968" y="40599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</a:rPr>
              <a:t>Coin-drop animation reinforces cost awareness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230368" y="4425696"/>
            <a:ext cx="164592" cy="1645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58968" y="44074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</a:rPr>
              <a:t>Larger amounts = more physical dragging effort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407408" y="2606040"/>
            <a:ext cx="420624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07408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0B1E"/>
                </a:solidFill>
              </a:rPr>
              <a:t>→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60F30"/>
          </a:solidFill>
          <a:ln w="12700">
            <a:solidFill>
              <a:srgbClr val="160F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"The first UPI app that makes you feel every rupee you spend"</a:t>
            </a:r>
            <a:endParaRPr lang="en-US" sz="10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FF4FA0">
              <a:alpha val="8000"/>
            </a:srgbClr>
          </a:solidFill>
          <a:ln w="12700">
            <a:solidFill>
              <a:srgbClr val="FF4FA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2560320" cy="384048"/>
          </a:xfrm>
          <a:prstGeom prst="rect">
            <a:avLst/>
          </a:prstGeom>
          <a:solidFill>
            <a:srgbClr val="FF4FA0">
              <a:alpha val="30000"/>
            </a:srgbClr>
          </a:solidFill>
          <a:ln w="12700">
            <a:solidFill>
              <a:srgbClr val="FF4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INNOVATION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4F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"Pain of Giving"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UPI payment that makes you FEEL every rupee.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3840480" cy="2834640"/>
          </a:xfrm>
          <a:prstGeom prst="rect">
            <a:avLst/>
          </a:prstGeom>
          <a:solidFill>
            <a:srgbClr val="181C35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3840480" cy="438912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TRADITIONAL UPI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423160"/>
            <a:ext cx="1005840" cy="502920"/>
          </a:xfrm>
          <a:prstGeom prst="rect">
            <a:avLst/>
          </a:prstGeom>
          <a:solidFill>
            <a:srgbClr val="1215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₹5,000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00200" y="267919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2423160"/>
            <a:ext cx="1005840" cy="502920"/>
          </a:xfrm>
          <a:prstGeom prst="rect">
            <a:avLst/>
          </a:prstGeom>
          <a:solidFill>
            <a:srgbClr val="1215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88920" y="267919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71800" y="2423160"/>
            <a:ext cx="1005840" cy="502920"/>
          </a:xfrm>
          <a:prstGeom prst="rect">
            <a:avLst/>
          </a:prstGeom>
          <a:solidFill>
            <a:srgbClr val="12152A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12724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099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is just a digit on screen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352044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493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hesitation before large amounts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" y="391363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886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Overspending feels consequence-free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430682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279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emotional cost — money is abstract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1828800"/>
            <a:ext cx="4206240" cy="2834640"/>
          </a:xfrm>
          <a:prstGeom prst="rect">
            <a:avLst/>
          </a:prstGeom>
          <a:solidFill>
            <a:srgbClr val="1E2445"/>
          </a:solidFill>
          <a:ln w="12700">
            <a:solidFill>
              <a:srgbClr val="FF4F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828800"/>
            <a:ext cx="4206240" cy="438912"/>
          </a:xfrm>
          <a:prstGeom prst="rect">
            <a:avLst/>
          </a:prstGeom>
          <a:solidFill>
            <a:srgbClr val="FF4FA0">
              <a:alpha val="70000"/>
            </a:srgbClr>
          </a:solidFill>
          <a:ln w="12700">
            <a:solidFill>
              <a:srgbClr val="FF4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82880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RENOPAY NOTE SLIDER™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237744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💵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7492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real SVG currency notes to pay — money feels physical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272491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74920" y="27249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fade &amp; turn dark red above ₹5,000 — visual anxiety trigger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63440" y="30723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📳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74920" y="30723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vibration grows stronger as amount increases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63440" y="34198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🪙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74920" y="34198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individual coins (₹5, ₹2, ₹1) for precise amounts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63440" y="3767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74920" y="3767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Psychology: physical effort = emotional cost = mindful spending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63440" y="41148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7492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report 28% fewer impulsive transactions after switch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RenoPay  •  Confidential  •  2025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E5AF0">
              <a:alpha val="12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00D9B4">
              <a:alpha val="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6E5AF0">
              <a:alpha val="15000"/>
            </a:srgbClr>
          </a:solidFill>
          <a:ln w="10160">
            <a:solidFill>
              <a:srgbClr val="6E5AF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kern="0" spc="200">
                <a:solidFill>
                  <a:srgbClr val="6E5AF0"/>
                </a:solidFill>
              </a:rPr>
              <a:t>PAYMENT EXPERIENCE</a:t>
            </a:r>
            <a:endParaRPr lang="en-US" sz="70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Three Ways to Pay — Each Unique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2606040" cy="3611880"/>
          </a:xfrm>
          <a:prstGeom prst="rect">
            <a:avLst/>
          </a:prstGeom>
          <a:solidFill>
            <a:srgbClr val="12122B"/>
          </a:solidFill>
          <a:ln w="15240">
            <a:solidFill>
              <a:srgbClr val="6E5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1115568"/>
            <a:ext cx="2606040" cy="411480"/>
          </a:xfrm>
          <a:prstGeom prst="rect">
            <a:avLst/>
          </a:prstGeom>
          <a:solidFill>
            <a:srgbClr val="6E5AF0"/>
          </a:solidFill>
          <a:ln w="12700">
            <a:solidFill>
              <a:srgbClr val="6E5AF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kern="0" spc="200">
                <a:solidFill>
                  <a:srgbClr val="FFFFFF"/>
                </a:solidFill>
              </a:rPr>
              <a:t>⚡  NORMAL PAY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1133856" y="1664208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325880" y="1627632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Enter recipient UPI ID / VPA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1133856" y="2071116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325880" y="2034540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Type amount numerically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1133856" y="2478024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325880" y="2441448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Add category + description tag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1133856" y="2884932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325880" y="2848356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≤ ₹2000: Fingerprint instant pay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1133856" y="3291840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325880" y="3255264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High value: Voice + PIN + SentinAI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1133856" y="3698748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325880" y="3662172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UPI Lite toggle (PIN-less ≤ ₹500)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1133856" y="4105656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325880" y="4069080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Round-up change to Digital Gold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273552" y="1115568"/>
            <a:ext cx="2606040" cy="3611880"/>
          </a:xfrm>
          <a:prstGeom prst="rect">
            <a:avLst/>
          </a:prstGeom>
          <a:solidFill>
            <a:srgbClr val="12122B"/>
          </a:solidFill>
          <a:ln w="15240">
            <a:solidFill>
              <a:srgbClr val="F0BB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273552" y="1115568"/>
            <a:ext cx="2606040" cy="411480"/>
          </a:xfrm>
          <a:prstGeom prst="rect">
            <a:avLst/>
          </a:prstGeom>
          <a:solidFill>
            <a:srgbClr val="F0BB3C"/>
          </a:solidFill>
          <a:ln w="12700">
            <a:solidFill>
              <a:srgbClr val="F0BB3C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3273552" y="1115568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kern="0" spc="200">
                <a:solidFill>
                  <a:srgbClr val="030310"/>
                </a:solidFill>
              </a:rPr>
              <a:t>🏦  ADVANCED PAY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3950208" y="1664208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142232" y="1627632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Drag &amp; Drop SVG currency notes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3950208" y="2071116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142232" y="2034540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Tap coins — ₹5, ₹2, ₹1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3950208" y="2478024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142232" y="2441448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Drop zone accumulates total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3950208" y="2884932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142232" y="2848356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Live SentinAI risk badge updates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3950208" y="3291840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142232" y="3255264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Notes fade ominously above ₹5,000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3950208" y="3698748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142232" y="3662172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Haptic vibration grows with amount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3950208" y="4105656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142232" y="4069080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"Pain of Giving" — money feels real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6080760" y="1115568"/>
            <a:ext cx="2606040" cy="3611880"/>
          </a:xfrm>
          <a:prstGeom prst="rect">
            <a:avLst/>
          </a:prstGeom>
          <a:solidFill>
            <a:srgbClr val="12122B"/>
          </a:solidFill>
          <a:ln w="15240">
            <a:solidFill>
              <a:srgbClr val="00D9B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6080760" y="1115568"/>
            <a:ext cx="2606040" cy="411480"/>
          </a:xfrm>
          <a:prstGeom prst="rect">
            <a:avLst/>
          </a:prstGeom>
          <a:solidFill>
            <a:srgbClr val="00D9B4"/>
          </a:solidFill>
          <a:ln w="12700">
            <a:solidFill>
              <a:srgbClr val="00D9B4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080760" y="1115568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kern="0" spc="200">
                <a:solidFill>
                  <a:srgbClr val="030310"/>
                </a:solidFill>
              </a:rPr>
              <a:t>⚡  UPI LITE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6757416" y="1664208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949440" y="1627632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On-device wallet (max ₹2,000)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6757416" y="2071116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949440" y="2034540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Completely PIN-less payments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6757416" y="2478024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6949440" y="2441448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Supports up to ₹500 per txn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6757416" y="2884932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949440" y="2848356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Top-up from main wallet balance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6757416" y="3291840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6949440" y="3255264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Quick preset: ₹100 / ₹200 / ₹500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6757416" y="3698748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949440" y="3662172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Reduces bank server congestion</a:t>
            </a:r>
            <a:endParaRPr lang="en-US" sz="900"/>
          </a:p>
        </p:txBody>
      </p:sp>
      <p:sp>
        <p:nvSpPr>
          <p:cNvPr id="56" name="Shape 54"/>
          <p:cNvSpPr/>
          <p:nvPr/>
        </p:nvSpPr>
        <p:spPr>
          <a:xfrm>
            <a:off x="6757416" y="4105656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6949440" y="4069080"/>
            <a:ext cx="1627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Cleaner bank statement history</a:t>
            </a:r>
            <a:endParaRPr lang="en-US" sz="900"/>
          </a:p>
        </p:txBody>
      </p:sp>
      <p:sp>
        <p:nvSpPr>
          <p:cNvPr id="58" name="Shape 56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solidFill>
            <a:srgbClr val="0D0D1F"/>
          </a:solidFill>
          <a:ln w="15240">
            <a:solidFill>
              <a:srgbClr val="1C1C38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502920" y="4828032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>
                <a:solidFill>
                  <a:srgbClr val="7070A0"/>
                </a:solidFill>
              </a:rPr>
              <a:t>All modes share: VPA resolution · Category tagging · SentinAI analysis · Round-up to Digital Gold · Real-time balance sync</a:t>
            </a:r>
            <a:endParaRPr lang="en-US" sz="85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2445"/>
          </a:solidFill>
          <a:ln w="12700">
            <a:solidFill>
              <a:srgbClr val="1E24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MULTI-LAYER SECURITY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6-Factor Auth — No Other UPI App Does This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43200" cy="1481328"/>
          </a:xfrm>
          <a:prstGeom prst="rect">
            <a:avLst/>
          </a:prstGeom>
          <a:solidFill>
            <a:srgbClr val="181C35"/>
          </a:solidFill>
          <a:ln w="12700">
            <a:solidFill>
              <a:srgbClr val="00D4AA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54864" cy="14813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581912"/>
            <a:ext cx="530352" cy="201168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58191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29768" y="1618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8408" y="16184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VPA Resolution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21031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lookup of recipient's UPI address against verified user DB — fake VPAs blocked at source.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508760"/>
            <a:ext cx="2743200" cy="1481328"/>
          </a:xfrm>
          <a:prstGeom prst="rect">
            <a:avLst/>
          </a:prstGeom>
          <a:solidFill>
            <a:srgbClr val="181C35"/>
          </a:solidFill>
          <a:ln w="12700">
            <a:solidFill>
              <a:srgbClr val="6C63F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508760"/>
            <a:ext cx="54864" cy="148132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581912"/>
            <a:ext cx="530352" cy="201168"/>
          </a:xfrm>
          <a:prstGeom prst="rect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58191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355848" y="1618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04488" y="16184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Biometrics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55848" y="21031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speaks their name aloud before payment. Pattern-matched against registered voice signature.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1508760"/>
            <a:ext cx="2743200" cy="1481328"/>
          </a:xfrm>
          <a:prstGeom prst="rect">
            <a:avLst/>
          </a:prstGeom>
          <a:solidFill>
            <a:srgbClr val="181C35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508760"/>
            <a:ext cx="54864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581912"/>
            <a:ext cx="530352" cy="20116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58191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281928" y="1618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👆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30568" y="16184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Auth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81928" y="21031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instant-pay for ≤₹2,000. Touch ID replaces PIN for frictionless small payments.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136392"/>
            <a:ext cx="2743200" cy="1481328"/>
          </a:xfrm>
          <a:prstGeom prst="rect">
            <a:avLst/>
          </a:prstGeom>
          <a:solidFill>
            <a:srgbClr val="181C35"/>
          </a:solidFill>
          <a:ln w="12700">
            <a:solidFill>
              <a:srgbClr val="22D3EE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136392"/>
            <a:ext cx="54864" cy="14813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3209544"/>
            <a:ext cx="530352" cy="201168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32095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29768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78408" y="3246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PIN Pad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9768" y="373075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Anti-peek mode: gyroscope detects tilt &gt;25° and shuffles keypad layout + applies purple fog overlay.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3136392"/>
            <a:ext cx="2743200" cy="1481328"/>
          </a:xfrm>
          <a:prstGeom prst="rect">
            <a:avLst/>
          </a:prstGeom>
          <a:solidFill>
            <a:srgbClr val="181C35"/>
          </a:solidFill>
          <a:ln w="12700">
            <a:solidFill>
              <a:srgbClr val="FF4F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46120" y="3136392"/>
            <a:ext cx="54864" cy="1481328"/>
          </a:xfrm>
          <a:prstGeom prst="rect">
            <a:avLst/>
          </a:prstGeom>
          <a:solidFill>
            <a:srgbClr val="FF4FA0"/>
          </a:solidFill>
          <a:ln w="12700">
            <a:solidFill>
              <a:srgbClr val="FF4F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94960" y="3209544"/>
            <a:ext cx="530352" cy="201168"/>
          </a:xfrm>
          <a:prstGeom prst="rect">
            <a:avLst/>
          </a:prstGeom>
          <a:solidFill>
            <a:srgbClr val="FF4FA0">
              <a:alpha val="30000"/>
            </a:srgbClr>
          </a:solidFill>
          <a:ln w="12700">
            <a:solidFill>
              <a:srgbClr val="FF4F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32095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355848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904488" y="3246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Code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55848" y="373075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4-digit code required for high-risk or high-value transactions. Never stored on device.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3136392"/>
            <a:ext cx="2743200" cy="1481328"/>
          </a:xfrm>
          <a:prstGeom prst="rect">
            <a:avLst/>
          </a:prstGeom>
          <a:solidFill>
            <a:srgbClr val="181C35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3136392"/>
            <a:ext cx="54864" cy="14813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3209544"/>
            <a:ext cx="530352" cy="201168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320954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281928" y="3246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830568" y="3246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SentinAI Verdict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81928" y="373075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AI clearance gate: 7-signal trust score computed in &lt;80ms. Blocks even if all 5 layers passed.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RenoPay  •  Confidential  •  2025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E5AF0">
              <a:alpha val="12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00D9B4">
              <a:alpha val="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273600" y="115200"/>
            <a:ext cx="1663200" cy="232272"/>
          </a:xfrm>
          <a:prstGeom prst="rect">
            <a:avLst/>
          </a:prstGeom>
          <a:solidFill>
            <a:srgbClr val="F0BB3C">
              <a:alpha val="15000"/>
            </a:srgbClr>
          </a:solidFill>
          <a:ln w="10160">
            <a:solidFill>
              <a:srgbClr val="F0BB3C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-352800" y="-187200"/>
            <a:ext cx="2512800" cy="82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kern="0" spc="200" dirty="0">
                <a:solidFill>
                  <a:srgbClr val="F0BB3C"/>
                </a:solidFill>
              </a:rPr>
              <a:t>UX INNOVATIONS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56032" y="320040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Makes </a:t>
            </a:r>
            <a:r>
              <a:rPr lang="en-US" sz="2600" b="1" dirty="0" err="1">
                <a:solidFill>
                  <a:srgbClr val="FFFFFF"/>
                </a:solidFill>
              </a:rPr>
              <a:t>RenoPay</a:t>
            </a:r>
            <a:r>
              <a:rPr lang="en-US" sz="2600" b="1" dirty="0">
                <a:solidFill>
                  <a:srgbClr val="FFFFFF"/>
                </a:solidFill>
              </a:rPr>
              <a:t> Feel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Different From Any UPI App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80800" y="1133424"/>
            <a:ext cx="4087872" cy="941832"/>
          </a:xfrm>
          <a:prstGeom prst="rect">
            <a:avLst/>
          </a:prstGeom>
          <a:solidFill>
            <a:srgbClr val="12122B"/>
          </a:solidFill>
          <a:ln w="15240">
            <a:solidFill>
              <a:srgbClr val="00D9B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92608" y="1207008"/>
            <a:ext cx="585216" cy="585216"/>
          </a:xfrm>
          <a:prstGeom prst="ellipse">
            <a:avLst/>
          </a:prstGeom>
          <a:solidFill>
            <a:srgbClr val="00D9B4">
              <a:alpha val="22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-57600" y="987552"/>
            <a:ext cx="1282896" cy="1042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3419856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b="1" dirty="0">
                <a:solidFill>
                  <a:srgbClr val="00D9B4"/>
                </a:solidFill>
              </a:rPr>
              <a:t>Liquid Balance Card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1577088"/>
            <a:ext cx="3456432" cy="98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 dirty="0">
                <a:solidFill>
                  <a:srgbClr val="7070A0"/>
                </a:solidFill>
              </a:rPr>
              <a:t>Balance shown as animated liquid filling a tank — color shifts </a:t>
            </a:r>
            <a:r>
              <a:rPr lang="en-US" sz="880" dirty="0" err="1">
                <a:solidFill>
                  <a:srgbClr val="7070A0"/>
                </a:solidFill>
              </a:rPr>
              <a:t>green→orange→red</a:t>
            </a:r>
            <a:r>
              <a:rPr lang="en-US" sz="880" dirty="0">
                <a:solidFill>
                  <a:srgbClr val="7070A0"/>
                </a:solidFill>
              </a:rPr>
              <a:t> as funds deplete. Psychological spending awareness.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572000" y="1105992"/>
            <a:ext cx="3913632" cy="936072"/>
          </a:xfrm>
          <a:prstGeom prst="rect">
            <a:avLst/>
          </a:prstGeom>
          <a:solidFill>
            <a:srgbClr val="12122B"/>
          </a:solidFill>
          <a:ln w="15240">
            <a:solidFill>
              <a:srgbClr val="6E5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595220" y="1221696"/>
            <a:ext cx="585216" cy="585216"/>
          </a:xfrm>
          <a:prstGeom prst="ellipse">
            <a:avLst/>
          </a:prstGeom>
          <a:solidFill>
            <a:srgbClr val="6E5AF0">
              <a:alpha val="22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450968" y="1041984"/>
            <a:ext cx="852552" cy="987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🎙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03656" y="1105992"/>
            <a:ext cx="3355128" cy="686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b="1" dirty="0">
                <a:solidFill>
                  <a:srgbClr val="6E5AF0"/>
                </a:solidFill>
              </a:rPr>
              <a:t>Voice UPI Assistant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03656" y="1526400"/>
            <a:ext cx="3318552" cy="1033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 dirty="0">
                <a:solidFill>
                  <a:srgbClr val="7070A0"/>
                </a:solidFill>
              </a:rPr>
              <a:t>"Pay ₹500 to Praveen for lunch" — NLP parses intent, extracts amount + recipient + note, pre-fills form and auto-redirects.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73600" y="2217167"/>
            <a:ext cx="4060656" cy="786817"/>
          </a:xfrm>
          <a:prstGeom prst="rect">
            <a:avLst/>
          </a:prstGeom>
          <a:solidFill>
            <a:srgbClr val="12122B"/>
          </a:solidFill>
          <a:ln w="15240">
            <a:solidFill>
              <a:srgbClr val="FF9F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24252" y="2324862"/>
            <a:ext cx="585216" cy="557784"/>
          </a:xfrm>
          <a:prstGeom prst="ellipse">
            <a:avLst/>
          </a:prstGeom>
          <a:solidFill>
            <a:srgbClr val="FF9F2E">
              <a:alpha val="22000"/>
            </a:srgbClr>
          </a:solidFill>
          <a:ln w="12700">
            <a:solidFill>
              <a:srgbClr val="FF9F2E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1440" y="1632204"/>
            <a:ext cx="1024128" cy="18425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1746504"/>
            <a:ext cx="3410712" cy="1490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b="1" dirty="0">
                <a:solidFill>
                  <a:srgbClr val="FF9F2E"/>
                </a:solidFill>
              </a:rPr>
              <a:t>AR QR Scanner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" y="2615436"/>
            <a:ext cx="3392424" cy="13896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 dirty="0">
                <a:solidFill>
                  <a:srgbClr val="7070A0"/>
                </a:solidFill>
              </a:rPr>
              <a:t>Augmented Reality viewfinder: animated grid, scan-line, floating gold coins, corner reticle. Phases: Scanning → Locked → Confirmed.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645152" y="2212632"/>
            <a:ext cx="4005072" cy="791352"/>
          </a:xfrm>
          <a:prstGeom prst="rect">
            <a:avLst/>
          </a:prstGeom>
          <a:solidFill>
            <a:srgbClr val="12122B"/>
          </a:solidFill>
          <a:ln w="15240">
            <a:solidFill>
              <a:srgbClr val="FF3D60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681728" y="2346840"/>
            <a:ext cx="585216" cy="585216"/>
          </a:xfrm>
          <a:prstGeom prst="ellipse">
            <a:avLst/>
          </a:prstGeom>
          <a:solidFill>
            <a:srgbClr val="FF3D60">
              <a:alpha val="22000"/>
            </a:srgbClr>
          </a:solidFill>
          <a:ln w="12700">
            <a:solidFill>
              <a:srgbClr val="FF3D6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595220" y="1929384"/>
            <a:ext cx="708300" cy="1490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26740" y="1806912"/>
            <a:ext cx="3232044" cy="1430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b="1" dirty="0">
                <a:solidFill>
                  <a:srgbClr val="FF3D60"/>
                </a:solidFill>
              </a:rPr>
              <a:t>"Pain of Giving" UX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0096" y="2583181"/>
            <a:ext cx="3182112" cy="14218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 dirty="0">
                <a:solidFill>
                  <a:srgbClr val="7070A0"/>
                </a:solidFill>
              </a:rPr>
              <a:t>Currency notes physically dragged to pay. Notes fade at ₹5000+. Haptic vibration intensifies with amount. Money feels emotionally real.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01752" y="3173400"/>
            <a:ext cx="4032504" cy="831672"/>
          </a:xfrm>
          <a:prstGeom prst="rect">
            <a:avLst/>
          </a:prstGeom>
          <a:solidFill>
            <a:srgbClr val="12122B"/>
          </a:solidFill>
          <a:ln w="15240">
            <a:solidFill>
              <a:srgbClr val="F0BB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392904" y="3303396"/>
            <a:ext cx="585216" cy="585216"/>
          </a:xfrm>
          <a:prstGeom prst="ellipse">
            <a:avLst/>
          </a:prstGeom>
          <a:solidFill>
            <a:srgbClr val="F0BB3C">
              <a:alpha val="22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73600" y="2304288"/>
            <a:ext cx="841968" cy="2615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37484" y="2324862"/>
            <a:ext cx="3333348" cy="23568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b="1" dirty="0">
                <a:solidFill>
                  <a:srgbClr val="F0BB3C"/>
                </a:solidFill>
              </a:rPr>
              <a:t>Financial Heartbeat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0052" y="3589020"/>
            <a:ext cx="3324204" cy="18608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 dirty="0">
                <a:solidFill>
                  <a:srgbClr val="7070A0"/>
                </a:solidFill>
              </a:rPr>
              <a:t>Semi-circle gauge with animated needle — Stable / Caution / Critical. </a:t>
            </a:r>
            <a:r>
              <a:rPr lang="en-US" sz="880" dirty="0" err="1">
                <a:solidFill>
                  <a:srgbClr val="7070A0"/>
                </a:solidFill>
              </a:rPr>
              <a:t>SentinAI</a:t>
            </a:r>
            <a:r>
              <a:rPr lang="en-US" sz="880" dirty="0">
                <a:solidFill>
                  <a:srgbClr val="7070A0"/>
                </a:solidFill>
              </a:rPr>
              <a:t> emotional spending analysis in real-time.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480560" y="3173400"/>
            <a:ext cx="4169664" cy="831672"/>
          </a:xfrm>
          <a:prstGeom prst="rect">
            <a:avLst/>
          </a:prstGeom>
          <a:solidFill>
            <a:srgbClr val="12122B"/>
          </a:solidFill>
          <a:ln w="15240">
            <a:solidFill>
              <a:srgbClr val="F0BB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480560" y="3336588"/>
            <a:ext cx="585216" cy="585216"/>
          </a:xfrm>
          <a:prstGeom prst="ellipse">
            <a:avLst/>
          </a:prstGeom>
          <a:solidFill>
            <a:srgbClr val="F0BB3C">
              <a:alpha val="22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233600" y="2450376"/>
            <a:ext cx="1069920" cy="2365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🪙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102352" y="2358936"/>
            <a:ext cx="3456432" cy="2322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b="1" dirty="0">
                <a:solidFill>
                  <a:srgbClr val="F0BB3C"/>
                </a:solidFill>
              </a:rPr>
              <a:t>Digital Gold Round-Up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33996" y="3707856"/>
            <a:ext cx="3388212" cy="1741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 dirty="0">
                <a:solidFill>
                  <a:srgbClr val="7070A0"/>
                </a:solidFill>
              </a:rPr>
              <a:t>Every payment auto-rounds to nearest ₹10. Spare change deposited to Digital Gold vault. Passive wealth building with zero effort.</a:t>
            </a:r>
            <a:endParaRPr lang="en-US" sz="88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E5AF0">
              <a:alpha val="12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00D9B4">
              <a:alpha val="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00D9B4">
              <a:alpha val="15000"/>
            </a:srgbClr>
          </a:solidFill>
          <a:ln w="10160">
            <a:solidFill>
              <a:srgbClr val="00D9B4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kern="0" spc="200">
                <a:solidFill>
                  <a:srgbClr val="00D9B4"/>
                </a:solidFill>
              </a:rPr>
              <a:t>SOCIAL &amp; REWARDS</a:t>
            </a:r>
            <a:endParaRPr lang="en-US" sz="70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800" b="1">
                <a:solidFill>
                  <a:srgbClr val="FFFFFF"/>
                </a:solidFill>
              </a:rPr>
              <a:t>Money Has a Social Layer Too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1975104" cy="3474720"/>
          </a:xfrm>
          <a:prstGeom prst="rect">
            <a:avLst/>
          </a:prstGeom>
          <a:solidFill>
            <a:srgbClr val="12122B"/>
          </a:solidFill>
          <a:ln w="15240">
            <a:solidFill>
              <a:srgbClr val="6E5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1115568"/>
            <a:ext cx="1975104" cy="548640"/>
          </a:xfrm>
          <a:prstGeom prst="rect">
            <a:avLst/>
          </a:prstGeom>
          <a:solidFill>
            <a:srgbClr val="6E5AF0">
              <a:alpha val="20000"/>
            </a:srgbClr>
          </a:solidFill>
          <a:ln w="12700">
            <a:solidFill>
              <a:srgbClr val="6E5AF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💌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457200" y="1426464"/>
            <a:ext cx="19751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>
                <a:solidFill>
                  <a:srgbClr val="6E5AF0"/>
                </a:solidFill>
              </a:rPr>
              <a:t>Money Requests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576072" y="1737360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68096" y="175564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Send payment requests to any UPI ID</a:t>
            </a:r>
            <a:endParaRPr lang="en-US" sz="880"/>
          </a:p>
        </p:txBody>
      </p:sp>
      <p:sp>
        <p:nvSpPr>
          <p:cNvPr id="13" name="Shape 11"/>
          <p:cNvSpPr/>
          <p:nvPr/>
        </p:nvSpPr>
        <p:spPr>
          <a:xfrm>
            <a:off x="576072" y="2377440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68096" y="239572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Inbox with Accept / Decline actions</a:t>
            </a:r>
            <a:endParaRPr lang="en-US" sz="880"/>
          </a:p>
        </p:txBody>
      </p:sp>
      <p:sp>
        <p:nvSpPr>
          <p:cNvPr id="15" name="Shape 13"/>
          <p:cNvSpPr/>
          <p:nvPr/>
        </p:nvSpPr>
        <p:spPr>
          <a:xfrm>
            <a:off x="576072" y="3017520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68096" y="303580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Pending badge count on Home screen</a:t>
            </a:r>
            <a:endParaRPr lang="en-US" sz="880"/>
          </a:p>
        </p:txBody>
      </p:sp>
      <p:sp>
        <p:nvSpPr>
          <p:cNvPr id="17" name="Shape 15"/>
          <p:cNvSpPr/>
          <p:nvPr/>
        </p:nvSpPr>
        <p:spPr>
          <a:xfrm>
            <a:off x="576072" y="3657600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68096" y="367588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Auto-creates transaction on approval</a:t>
            </a:r>
            <a:endParaRPr lang="en-US" sz="880"/>
          </a:p>
        </p:txBody>
      </p:sp>
      <p:sp>
        <p:nvSpPr>
          <p:cNvPr id="19" name="Shape 17"/>
          <p:cNvSpPr/>
          <p:nvPr/>
        </p:nvSpPr>
        <p:spPr>
          <a:xfrm>
            <a:off x="2651760" y="1115568"/>
            <a:ext cx="1975104" cy="3474720"/>
          </a:xfrm>
          <a:prstGeom prst="rect">
            <a:avLst/>
          </a:prstGeom>
          <a:solidFill>
            <a:srgbClr val="12122B"/>
          </a:solidFill>
          <a:ln w="15240">
            <a:solidFill>
              <a:srgbClr val="00D9B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51760" y="1115568"/>
            <a:ext cx="1975104" cy="548640"/>
          </a:xfrm>
          <a:prstGeom prst="rect">
            <a:avLst/>
          </a:prstGeom>
          <a:solidFill>
            <a:srgbClr val="00D9B4">
              <a:alpha val="20000"/>
            </a:srgbClr>
          </a:solidFill>
          <a:ln w="12700">
            <a:solidFill>
              <a:srgbClr val="00D9B4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51760" y="1115568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🍕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2651760" y="1426464"/>
            <a:ext cx="19751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>
                <a:solidFill>
                  <a:srgbClr val="00D9B4"/>
                </a:solidFill>
              </a:rPr>
              <a:t>Bill Splitter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2770632" y="1737360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962656" y="175564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Enter total bill + participants list</a:t>
            </a:r>
            <a:endParaRPr lang="en-US" sz="880"/>
          </a:p>
        </p:txBody>
      </p:sp>
      <p:sp>
        <p:nvSpPr>
          <p:cNvPr id="25" name="Shape 23"/>
          <p:cNvSpPr/>
          <p:nvPr/>
        </p:nvSpPr>
        <p:spPr>
          <a:xfrm>
            <a:off x="2770632" y="2377440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962656" y="239572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Equal split calculated instantly</a:t>
            </a:r>
            <a:endParaRPr lang="en-US" sz="880"/>
          </a:p>
        </p:txBody>
      </p:sp>
      <p:sp>
        <p:nvSpPr>
          <p:cNvPr id="27" name="Shape 25"/>
          <p:cNvSpPr/>
          <p:nvPr/>
        </p:nvSpPr>
        <p:spPr>
          <a:xfrm>
            <a:off x="2770632" y="3017520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962656" y="303580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Mark who has already paid</a:t>
            </a:r>
            <a:endParaRPr lang="en-US" sz="880"/>
          </a:p>
        </p:txBody>
      </p:sp>
      <p:sp>
        <p:nvSpPr>
          <p:cNvPr id="29" name="Shape 27"/>
          <p:cNvSpPr/>
          <p:nvPr/>
        </p:nvSpPr>
        <p:spPr>
          <a:xfrm>
            <a:off x="2770632" y="3657600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962656" y="367588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Send money requests in one tap</a:t>
            </a:r>
            <a:endParaRPr lang="en-US" sz="880"/>
          </a:p>
        </p:txBody>
      </p:sp>
      <p:sp>
        <p:nvSpPr>
          <p:cNvPr id="31" name="Shape 29"/>
          <p:cNvSpPr/>
          <p:nvPr/>
        </p:nvSpPr>
        <p:spPr>
          <a:xfrm>
            <a:off x="4846320" y="1115568"/>
            <a:ext cx="1975104" cy="3474720"/>
          </a:xfrm>
          <a:prstGeom prst="rect">
            <a:avLst/>
          </a:prstGeom>
          <a:solidFill>
            <a:srgbClr val="12122B"/>
          </a:solidFill>
          <a:ln w="15240">
            <a:solidFill>
              <a:srgbClr val="F0BB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846320" y="1115568"/>
            <a:ext cx="1975104" cy="548640"/>
          </a:xfrm>
          <a:prstGeom prst="rect">
            <a:avLst/>
          </a:prstGeom>
          <a:solidFill>
            <a:srgbClr val="F0BB3C">
              <a:alpha val="20000"/>
            </a:srgbClr>
          </a:solidFill>
          <a:ln w="12700">
            <a:solidFill>
              <a:srgbClr val="F0BB3C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846320" y="1115568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🎰</a:t>
            </a:r>
            <a:endParaRPr lang="en-US" sz="2200"/>
          </a:p>
        </p:txBody>
      </p:sp>
      <p:sp>
        <p:nvSpPr>
          <p:cNvPr id="34" name="Text 32"/>
          <p:cNvSpPr/>
          <p:nvPr/>
        </p:nvSpPr>
        <p:spPr>
          <a:xfrm>
            <a:off x="4846320" y="1426464"/>
            <a:ext cx="19751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>
                <a:solidFill>
                  <a:srgbClr val="F0BB3C"/>
                </a:solidFill>
              </a:rPr>
              <a:t>Scratch Cards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965192" y="1737360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157216" y="175564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Earned on ₹500+ transactions</a:t>
            </a:r>
            <a:endParaRPr lang="en-US" sz="880"/>
          </a:p>
        </p:txBody>
      </p:sp>
      <p:sp>
        <p:nvSpPr>
          <p:cNvPr id="37" name="Shape 35"/>
          <p:cNvSpPr/>
          <p:nvPr/>
        </p:nvSpPr>
        <p:spPr>
          <a:xfrm>
            <a:off x="4965192" y="2377440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157216" y="239572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Interactive canvas scratch effect</a:t>
            </a:r>
            <a:endParaRPr lang="en-US" sz="880"/>
          </a:p>
        </p:txBody>
      </p:sp>
      <p:sp>
        <p:nvSpPr>
          <p:cNvPr id="39" name="Shape 37"/>
          <p:cNvSpPr/>
          <p:nvPr/>
        </p:nvSpPr>
        <p:spPr>
          <a:xfrm>
            <a:off x="4965192" y="3017520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157216" y="303580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Rewards: cashback or Digital Gold</a:t>
            </a:r>
            <a:endParaRPr lang="en-US" sz="880"/>
          </a:p>
        </p:txBody>
      </p:sp>
      <p:sp>
        <p:nvSpPr>
          <p:cNvPr id="41" name="Shape 39"/>
          <p:cNvSpPr/>
          <p:nvPr/>
        </p:nvSpPr>
        <p:spPr>
          <a:xfrm>
            <a:off x="4965192" y="3657600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157216" y="367588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Auto-credited to wallet on reveal</a:t>
            </a:r>
            <a:endParaRPr lang="en-US" sz="880"/>
          </a:p>
        </p:txBody>
      </p:sp>
      <p:sp>
        <p:nvSpPr>
          <p:cNvPr id="43" name="Shape 41"/>
          <p:cNvSpPr/>
          <p:nvPr/>
        </p:nvSpPr>
        <p:spPr>
          <a:xfrm>
            <a:off x="7040880" y="1115568"/>
            <a:ext cx="1975104" cy="3474720"/>
          </a:xfrm>
          <a:prstGeom prst="rect">
            <a:avLst/>
          </a:prstGeom>
          <a:solidFill>
            <a:srgbClr val="12122B"/>
          </a:solidFill>
          <a:ln w="15240">
            <a:solidFill>
              <a:srgbClr val="FF9F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7040880" y="1115568"/>
            <a:ext cx="1975104" cy="548640"/>
          </a:xfrm>
          <a:prstGeom prst="rect">
            <a:avLst/>
          </a:prstGeom>
          <a:solidFill>
            <a:srgbClr val="FF9F2E">
              <a:alpha val="20000"/>
            </a:srgbClr>
          </a:solidFill>
          <a:ln w="12700">
            <a:solidFill>
              <a:srgbClr val="FF9F2E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040880" y="1115568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>
                <a:solidFill>
                  <a:srgbClr val="000000"/>
                </a:solidFill>
              </a:rPr>
              <a:t>🪙</a:t>
            </a:r>
            <a:endParaRPr lang="en-US" sz="2200"/>
          </a:p>
        </p:txBody>
      </p:sp>
      <p:sp>
        <p:nvSpPr>
          <p:cNvPr id="46" name="Text 44"/>
          <p:cNvSpPr/>
          <p:nvPr/>
        </p:nvSpPr>
        <p:spPr>
          <a:xfrm>
            <a:off x="7040880" y="1426464"/>
            <a:ext cx="19751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>
                <a:solidFill>
                  <a:srgbClr val="FF9F2E"/>
                </a:solidFill>
              </a:rPr>
              <a:t>Digital Gold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7159752" y="1737360"/>
            <a:ext cx="146304" cy="146304"/>
          </a:xfrm>
          <a:prstGeom prst="ellipse">
            <a:avLst/>
          </a:prstGeom>
          <a:solidFill>
            <a:srgbClr val="FF9F2E">
              <a:alpha val="80000"/>
            </a:srgbClr>
          </a:solidFill>
          <a:ln w="12700">
            <a:solidFill>
              <a:srgbClr val="FF9F2E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7351776" y="175564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Accumulates from round-ups each txn</a:t>
            </a:r>
            <a:endParaRPr lang="en-US" sz="880"/>
          </a:p>
        </p:txBody>
      </p:sp>
      <p:sp>
        <p:nvSpPr>
          <p:cNvPr id="49" name="Shape 47"/>
          <p:cNvSpPr/>
          <p:nvPr/>
        </p:nvSpPr>
        <p:spPr>
          <a:xfrm>
            <a:off x="7159752" y="2377440"/>
            <a:ext cx="146304" cy="146304"/>
          </a:xfrm>
          <a:prstGeom prst="ellipse">
            <a:avLst/>
          </a:prstGeom>
          <a:solidFill>
            <a:srgbClr val="FF9F2E">
              <a:alpha val="80000"/>
            </a:srgbClr>
          </a:solidFill>
          <a:ln w="12700">
            <a:solidFill>
              <a:srgbClr val="FF9F2E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7351776" y="239572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Also earned via scratch card rewards</a:t>
            </a:r>
            <a:endParaRPr lang="en-US" sz="880"/>
          </a:p>
        </p:txBody>
      </p:sp>
      <p:sp>
        <p:nvSpPr>
          <p:cNvPr id="51" name="Shape 49"/>
          <p:cNvSpPr/>
          <p:nvPr/>
        </p:nvSpPr>
        <p:spPr>
          <a:xfrm>
            <a:off x="7159752" y="3017520"/>
            <a:ext cx="146304" cy="146304"/>
          </a:xfrm>
          <a:prstGeom prst="ellipse">
            <a:avLst/>
          </a:prstGeom>
          <a:solidFill>
            <a:srgbClr val="FF9F2E">
              <a:alpha val="80000"/>
            </a:srgbClr>
          </a:solidFill>
          <a:ln w="12700">
            <a:solidFill>
              <a:srgbClr val="FF9F2E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7351776" y="303580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Shown on Home, Rewards &amp; Profile</a:t>
            </a:r>
            <a:endParaRPr lang="en-US" sz="880"/>
          </a:p>
        </p:txBody>
      </p:sp>
      <p:sp>
        <p:nvSpPr>
          <p:cNvPr id="53" name="Shape 51"/>
          <p:cNvSpPr/>
          <p:nvPr/>
        </p:nvSpPr>
        <p:spPr>
          <a:xfrm>
            <a:off x="7159752" y="3657600"/>
            <a:ext cx="146304" cy="146304"/>
          </a:xfrm>
          <a:prstGeom prst="ellipse">
            <a:avLst/>
          </a:prstGeom>
          <a:solidFill>
            <a:srgbClr val="FF9F2E">
              <a:alpha val="80000"/>
            </a:srgbClr>
          </a:solidFill>
          <a:ln w="12700">
            <a:solidFill>
              <a:srgbClr val="FF9F2E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7351776" y="3675888"/>
            <a:ext cx="1572768" cy="530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80">
                <a:solidFill>
                  <a:srgbClr val="E8E8FF"/>
                </a:solidFill>
              </a:rPr>
              <a:t>Visual gold vault with live balance</a:t>
            </a:r>
            <a:endParaRPr lang="en-US" sz="880"/>
          </a:p>
        </p:txBody>
      </p:sp>
      <p:sp>
        <p:nvSpPr>
          <p:cNvPr id="55" name="Shape 53"/>
          <p:cNvSpPr/>
          <p:nvPr/>
        </p:nvSpPr>
        <p:spPr>
          <a:xfrm>
            <a:off x="457200" y="4700016"/>
            <a:ext cx="8229600" cy="365760"/>
          </a:xfrm>
          <a:prstGeom prst="rect">
            <a:avLst/>
          </a:prstGeom>
          <a:solidFill>
            <a:srgbClr val="0D0D1F"/>
          </a:solidFill>
          <a:ln w="1016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640080" y="4700016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i="1">
                <a:solidFill>
                  <a:srgbClr val="7070A0"/>
                </a:solidFill>
              </a:rPr>
              <a:t>"Users who feel the social aspect of money — requests, splits, rewards — spend 35% more mindfully." — UX Research Principle</a:t>
            </a:r>
            <a:endParaRPr lang="en-US" sz="9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81392" y="-1371600"/>
            <a:ext cx="4572000" cy="4572000"/>
          </a:xfrm>
          <a:prstGeom prst="ellipse">
            <a:avLst/>
          </a:prstGeom>
          <a:solidFill>
            <a:srgbClr val="6E5AF0">
              <a:alpha val="12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00D9B4">
              <a:alpha val="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75488" y="45720"/>
            <a:ext cx="1536192" cy="347472"/>
          </a:xfrm>
          <a:prstGeom prst="rect">
            <a:avLst/>
          </a:prstGeom>
          <a:solidFill>
            <a:srgbClr val="6E5AF0">
              <a:alpha val="15000"/>
            </a:srgbClr>
          </a:solidFill>
          <a:ln w="10160">
            <a:solidFill>
              <a:srgbClr val="6E5AF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03200" y="-18289"/>
            <a:ext cx="1756800" cy="4754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kern="0" spc="200" dirty="0">
                <a:solidFill>
                  <a:srgbClr val="6E5AF0"/>
                </a:solidFill>
              </a:rPr>
              <a:t>FINANCIAL MANAGEMENT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338327"/>
            <a:ext cx="8092440" cy="4297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>
                <a:solidFill>
                  <a:srgbClr val="FFFFFF"/>
                </a:solidFill>
              </a:rPr>
              <a:t>Manage Money Beyond  Just Sending It</a:t>
            </a:r>
            <a:endParaRPr lang="en-US" sz="2600" dirty="0"/>
          </a:p>
          <a:p>
            <a:pPr marL="0" indent="0" algn="l">
              <a:buNone/>
            </a:pPr>
            <a:endParaRPr lang="en-US" sz="2600" dirty="0"/>
          </a:p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2633472" cy="3611880"/>
          </a:xfrm>
          <a:prstGeom prst="rect">
            <a:avLst/>
          </a:prstGeom>
          <a:solidFill>
            <a:srgbClr val="12122B"/>
          </a:solidFill>
          <a:ln w="15240">
            <a:solidFill>
              <a:srgbClr val="6E5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2633472" cy="512064"/>
          </a:xfrm>
          <a:prstGeom prst="rect">
            <a:avLst/>
          </a:prstGeom>
          <a:solidFill>
            <a:srgbClr val="6E5AF0">
              <a:alpha val="18000"/>
            </a:srgbClr>
          </a:solidFill>
          <a:ln w="12700">
            <a:solidFill>
              <a:srgbClr val="6E5AF0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6E5AF0"/>
                </a:solidFill>
              </a:rPr>
              <a:t>📋  Subscription Manager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24505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Track every auto-debit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585216" y="1975104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04672" y="1993392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Netflix, Spotify, AWS pre-loaded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585216" y="2468880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04672" y="24871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Monthly/Quarterly/Yearly cycles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585216" y="2962656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04672" y="2980944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Due-in-N-days alert badge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585216" y="3456432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04672" y="347472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Pause or Resume with one tap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85216" y="3950208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04672" y="396849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Add custom subscriptions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585216" y="4443984"/>
            <a:ext cx="146304" cy="146304"/>
          </a:xfrm>
          <a:prstGeom prst="ellipse">
            <a:avLst/>
          </a:prstGeom>
          <a:solidFill>
            <a:srgbClr val="6E5AF0">
              <a:alpha val="80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04672" y="4462272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Total auto-pay summary at top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3364992" y="1389888"/>
            <a:ext cx="2633472" cy="3611880"/>
          </a:xfrm>
          <a:prstGeom prst="rect">
            <a:avLst/>
          </a:prstGeom>
          <a:solidFill>
            <a:srgbClr val="12122B"/>
          </a:solidFill>
          <a:ln w="15240">
            <a:solidFill>
              <a:srgbClr val="00D9B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3364992" y="1389888"/>
            <a:ext cx="2633472" cy="512064"/>
          </a:xfrm>
          <a:prstGeom prst="rect">
            <a:avLst/>
          </a:prstGeom>
          <a:solidFill>
            <a:srgbClr val="00D9B4">
              <a:alpha val="18000"/>
            </a:srgbClr>
          </a:solidFill>
          <a:ln w="12700">
            <a:solidFill>
              <a:srgbClr val="00D9B4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56432" y="1389888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00D9B4"/>
                </a:solidFill>
              </a:rPr>
              <a:t>🔄  Smart Mandates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3456432" y="1664208"/>
            <a:ext cx="24505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AutoPay 2.0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3493008" y="1975104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712464" y="1993392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View all UPI autopay mandates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3493008" y="2468880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712464" y="24871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Amount + frequency + VPA shown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3493008" y="2962656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712464" y="2980944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Per-mandate spending limits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3493008" y="3456432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712464" y="347472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Pause individual mandates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3493008" y="3950208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712464" y="396849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Total authorized mandate value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3493008" y="4443984"/>
            <a:ext cx="146304" cy="146304"/>
          </a:xfrm>
          <a:prstGeom prst="ellipse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3712464" y="4462272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Next payment date tracking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6272784" y="1389888"/>
            <a:ext cx="2633472" cy="3611880"/>
          </a:xfrm>
          <a:prstGeom prst="rect">
            <a:avLst/>
          </a:prstGeom>
          <a:solidFill>
            <a:srgbClr val="12122B"/>
          </a:solidFill>
          <a:ln w="15240">
            <a:solidFill>
              <a:srgbClr val="F0BB3C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6272784" y="1389888"/>
            <a:ext cx="2633472" cy="512064"/>
          </a:xfrm>
          <a:prstGeom prst="rect">
            <a:avLst/>
          </a:prstGeom>
          <a:solidFill>
            <a:srgbClr val="F0BB3C">
              <a:alpha val="18000"/>
            </a:srgbClr>
          </a:solidFill>
          <a:ln w="12700">
            <a:solidFill>
              <a:srgbClr val="F0BB3C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364224" y="1389888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b="1">
                <a:solidFill>
                  <a:srgbClr val="F0BB3C"/>
                </a:solidFill>
              </a:rPr>
              <a:t>🗺  Savings Goals</a:t>
            </a:r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6364224" y="1664208"/>
            <a:ext cx="24505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Treasure Map Gamified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6400800" y="1975104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6620256" y="1993392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Create goals with target amounts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6400800" y="2468880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620256" y="2487168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Milestone: 25% / 50% / 75% / 100%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6400800" y="2962656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620256" y="2980944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Animated hero avatar on map path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6400800" y="3456432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6620256" y="3474720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Save deducts from main wallet</a:t>
            </a:r>
            <a:endParaRPr lang="en-US" sz="900"/>
          </a:p>
        </p:txBody>
      </p:sp>
      <p:sp>
        <p:nvSpPr>
          <p:cNvPr id="51" name="Shape 49"/>
          <p:cNvSpPr/>
          <p:nvPr/>
        </p:nvSpPr>
        <p:spPr>
          <a:xfrm>
            <a:off x="6400800" y="3950208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620256" y="3968496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Multiple concurrent goals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6400800" y="4443984"/>
            <a:ext cx="146304" cy="146304"/>
          </a:xfrm>
          <a:prstGeom prst="ellipse">
            <a:avLst/>
          </a:prstGeom>
          <a:solidFill>
            <a:srgbClr val="F0BB3C">
              <a:alpha val="80000"/>
            </a:srgbClr>
          </a:solidFill>
          <a:ln w="12700">
            <a:solidFill>
              <a:srgbClr val="F0BB3C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620256" y="4462272"/>
            <a:ext cx="21945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>
                <a:solidFill>
                  <a:srgbClr val="E8E8FF"/>
                </a:solidFill>
              </a:rPr>
              <a:t>Visual gold progress bar trail</a:t>
            </a:r>
            <a:endParaRPr lang="en-US" sz="900"/>
          </a:p>
        </p:txBody>
      </p:sp>
      <p:sp>
        <p:nvSpPr>
          <p:cNvPr id="55" name="Shape 53"/>
          <p:cNvSpPr/>
          <p:nvPr/>
        </p:nvSpPr>
        <p:spPr>
          <a:xfrm flipV="1">
            <a:off x="457200" y="749807"/>
            <a:ext cx="8449056" cy="493775"/>
          </a:xfrm>
          <a:prstGeom prst="rect">
            <a:avLst/>
          </a:prstGeom>
          <a:solidFill>
            <a:srgbClr val="0D0D1F"/>
          </a:solidFill>
          <a:ln w="15240">
            <a:solidFill>
              <a:srgbClr val="00D9B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75488" y="-266400"/>
            <a:ext cx="1194912" cy="2598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 dirty="0">
                <a:solidFill>
                  <a:srgbClr val="00D9B4"/>
                </a:solidFill>
              </a:rPr>
              <a:t>📊 Expense Tracker: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519200" y="676656"/>
            <a:ext cx="6948000" cy="722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dirty="0">
                <a:solidFill>
                  <a:srgbClr val="7070A0"/>
                </a:solidFill>
              </a:rPr>
              <a:t>Week/Month/All · Category breakdown bars · Total Spent vs Income vs Net · Budget % progress · Tap-to-filter by category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FFB800">
              <a:alpha val="7000"/>
            </a:srgbClr>
          </a:solidFill>
          <a:ln w="12700">
            <a:solidFill>
              <a:srgbClr val="FFB800">
                <a:alpha val="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MANAGEMENT HUB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1536192"/>
          </a:xfrm>
          <a:prstGeom prst="rect">
            <a:avLst/>
          </a:prstGeom>
          <a:solidFill>
            <a:srgbClr val="181C35"/>
          </a:solidFill>
          <a:ln w="12700">
            <a:solidFill>
              <a:srgbClr val="00D4AA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160520" cy="457200"/>
          </a:xfrm>
          <a:prstGeom prst="rect">
            <a:avLst/>
          </a:prstGeom>
          <a:solidFill>
            <a:srgbClr val="00D4AA">
              <a:alpha val="28000"/>
            </a:srgbClr>
          </a:solidFill>
          <a:ln w="12700">
            <a:solidFill>
              <a:srgbClr val="00D4AA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72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Smart Expense Tracker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" y="202082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/ Month / All-time views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" y="2313432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 with % bars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606040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51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 vs Income vs Net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87168" y="202082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Tap-to-filter by category tag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87168" y="2313432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 at 80% spend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1417320"/>
            <a:ext cx="4160520" cy="1536192"/>
          </a:xfrm>
          <a:prstGeom prst="rect">
            <a:avLst/>
          </a:prstGeom>
          <a:solidFill>
            <a:srgbClr val="181C35"/>
          </a:solidFill>
          <a:ln w="12700">
            <a:solidFill>
              <a:srgbClr val="FFB80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417320"/>
            <a:ext cx="4160520" cy="457200"/>
          </a:xfrm>
          <a:prstGeom prst="rect">
            <a:avLst/>
          </a:prstGeom>
          <a:solidFill>
            <a:srgbClr val="FFB800">
              <a:alpha val="28000"/>
            </a:srgbClr>
          </a:solidFill>
          <a:ln w="12700">
            <a:solidFill>
              <a:srgbClr val="FFB800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472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Treasure Map Savings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10328" y="2020824"/>
            <a:ext cx="109728" cy="10972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map with hero avatar journey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0328" y="2313432"/>
            <a:ext cx="109728" cy="10972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milestone checkpoints (25/50/75/100%)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10328" y="2606040"/>
            <a:ext cx="109728" cy="10972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5511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concurrent goals supported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67728" y="2020824"/>
            <a:ext cx="109728" cy="10972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deducts directly from wallet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67728" y="2313432"/>
            <a:ext cx="109728" cy="10972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badge on completion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4160520" cy="1536192"/>
          </a:xfrm>
          <a:prstGeom prst="rect">
            <a:avLst/>
          </a:prstGeom>
          <a:solidFill>
            <a:srgbClr val="181C35"/>
          </a:solidFill>
          <a:ln w="12700">
            <a:solidFill>
              <a:srgbClr val="6C63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108960"/>
            <a:ext cx="4160520" cy="457200"/>
          </a:xfrm>
          <a:prstGeom prst="rect">
            <a:avLst/>
          </a:prstGeom>
          <a:solidFill>
            <a:srgbClr val="6C63FF">
              <a:alpha val="28000"/>
            </a:srgbClr>
          </a:solidFill>
          <a:ln w="12700">
            <a:solidFill>
              <a:srgbClr val="6C63FF">
                <a:alpha val="2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1638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Subscription Manager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9768" y="3712464"/>
            <a:ext cx="109728" cy="10972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Spotify, AWS pre-loaded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9768" y="4005072"/>
            <a:ext cx="109728" cy="10972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Monthly/Quarterly/Yearly cycles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9768" y="4297680"/>
            <a:ext cx="109728" cy="10972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242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Due-in-N-days alert badge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87168" y="3712464"/>
            <a:ext cx="109728" cy="10972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/ Resume with one tap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87168" y="4005072"/>
            <a:ext cx="109728" cy="10972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176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auto-pay summary shown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3108960"/>
            <a:ext cx="4160520" cy="1536192"/>
          </a:xfrm>
          <a:prstGeom prst="rect">
            <a:avLst/>
          </a:prstGeom>
          <a:solidFill>
            <a:srgbClr val="181C35"/>
          </a:solidFill>
          <a:ln w="12700">
            <a:solidFill>
              <a:srgbClr val="22D3EE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3108960"/>
            <a:ext cx="4160520" cy="457200"/>
          </a:xfrm>
          <a:prstGeom prst="rect">
            <a:avLst/>
          </a:prstGeom>
          <a:solidFill>
            <a:srgbClr val="22D3EE">
              <a:alpha val="28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0328" y="31638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Smart Mandates (AutoPay 2.0)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910328" y="3712464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UPI autopay mandates in one view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10328" y="4005072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Per-mandate spending limits set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910328" y="4297680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4920" y="42428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mandate pause/resume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67728" y="3712464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payment date countdown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967728" y="4005072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authorized mandate value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RenoPay  •  Confidential  •  2025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E5AF0">
              <a:alpha val="12000"/>
            </a:srgbClr>
          </a:solidFill>
          <a:ln w="12700">
            <a:solidFill>
              <a:srgbClr val="6E5AF0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00D9B4">
              <a:alpha val="8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solidFill>
            <a:srgbClr val="F0BB3C">
              <a:alpha val="15000"/>
            </a:srgbClr>
          </a:solidFill>
          <a:ln w="10160">
            <a:solidFill>
              <a:srgbClr val="F0BB3C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b="1" kern="0" spc="200">
                <a:solidFill>
                  <a:srgbClr val="F0BB3C"/>
                </a:solidFill>
              </a:rPr>
              <a:t>COMPETITIVE EDGE</a:t>
            </a:r>
            <a:endParaRPr lang="en-US" sz="70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</a:rPr>
              <a:t>Why RenoPay Stands Out</a:t>
            </a:r>
            <a:endParaRPr lang="en-US" sz="300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2286000" cy="292608"/>
          </a:xfrm>
          <a:prstGeom prst="rect">
            <a:avLst/>
          </a:prstGeom>
          <a:solidFill>
            <a:srgbClr val="0D0D1F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30352" y="1078992"/>
            <a:ext cx="22128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7070A0"/>
                </a:solidFill>
              </a:rPr>
              <a:t>Feature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2743200" y="1078992"/>
            <a:ext cx="2743200" cy="292608"/>
          </a:xfrm>
          <a:prstGeom prst="rect">
            <a:avLst/>
          </a:prstGeom>
          <a:solidFill>
            <a:srgbClr val="0D0D1F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816352" y="1078992"/>
            <a:ext cx="26700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>
                <a:solidFill>
                  <a:srgbClr val="7070A0"/>
                </a:solidFill>
              </a:rPr>
              <a:t>Other UPI Apps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5486400" y="1078992"/>
            <a:ext cx="3657600" cy="292608"/>
          </a:xfrm>
          <a:prstGeom prst="rect">
            <a:avLst/>
          </a:prstGeom>
          <a:solidFill>
            <a:srgbClr val="6E5AF0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559552" y="1078992"/>
            <a:ext cx="35844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RenoPay ✓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457200" y="1399032"/>
            <a:ext cx="2286000" cy="347472"/>
          </a:xfrm>
          <a:prstGeom prst="rect">
            <a:avLst/>
          </a:prstGeom>
          <a:solidFill>
            <a:srgbClr val="12122B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1399032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E8E8FF"/>
                </a:solidFill>
              </a:rPr>
              <a:t>Fraud Detection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2743200" y="1399032"/>
            <a:ext cx="2743200" cy="347472"/>
          </a:xfrm>
          <a:prstGeom prst="rect">
            <a:avLst/>
          </a:prstGeom>
          <a:solidFill>
            <a:srgbClr val="12122B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834640" y="1399032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Basic UPI PIN only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5486400" y="1399032"/>
            <a:ext cx="3657600" cy="347472"/>
          </a:xfrm>
          <a:prstGeom prst="rect">
            <a:avLst/>
          </a:prstGeom>
          <a:solidFill>
            <a:srgbClr val="0D1230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029200" y="1399032"/>
            <a:ext cx="54864" cy="347472"/>
          </a:xfrm>
          <a:prstGeom prst="rect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577840" y="1399032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00D9B4"/>
                </a:solidFill>
              </a:rPr>
              <a:t>SentinAI: 7-signal real-time AI engine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457200" y="1773936"/>
            <a:ext cx="2286000" cy="347472"/>
          </a:xfrm>
          <a:prstGeom prst="rect">
            <a:avLst/>
          </a:prstGeom>
          <a:solidFill>
            <a:srgbClr val="0D0D1F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48640" y="1773936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E8E8FF"/>
                </a:solidFill>
              </a:rPr>
              <a:t>Auth Layers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2743200" y="1773936"/>
            <a:ext cx="2743200" cy="347472"/>
          </a:xfrm>
          <a:prstGeom prst="rect">
            <a:avLst/>
          </a:prstGeom>
          <a:solidFill>
            <a:srgbClr val="0D0D1F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834640" y="1773936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1–2 (PIN/OTP)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5486400" y="1773936"/>
            <a:ext cx="3657600" cy="347472"/>
          </a:xfrm>
          <a:prstGeom prst="rect">
            <a:avLst/>
          </a:prstGeom>
          <a:solidFill>
            <a:srgbClr val="0D1230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029200" y="1773936"/>
            <a:ext cx="54864" cy="347472"/>
          </a:xfrm>
          <a:prstGeom prst="rect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577840" y="1773936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00D9B4"/>
                </a:solidFill>
              </a:rPr>
              <a:t>6-factor: Voice + FP + PIN + Privacy + Device + AI</a:t>
            </a:r>
            <a:endParaRPr lang="en-US" sz="850"/>
          </a:p>
        </p:txBody>
      </p:sp>
      <p:sp>
        <p:nvSpPr>
          <p:cNvPr id="27" name="Shape 25"/>
          <p:cNvSpPr/>
          <p:nvPr/>
        </p:nvSpPr>
        <p:spPr>
          <a:xfrm>
            <a:off x="457200" y="2148840"/>
            <a:ext cx="2286000" cy="347472"/>
          </a:xfrm>
          <a:prstGeom prst="rect">
            <a:avLst/>
          </a:prstGeom>
          <a:solidFill>
            <a:srgbClr val="12122B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48640" y="214884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E8E8FF"/>
                </a:solidFill>
              </a:rPr>
              <a:t>Payment UX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2743200" y="2148840"/>
            <a:ext cx="2743200" cy="347472"/>
          </a:xfrm>
          <a:prstGeom prst="rect">
            <a:avLst/>
          </a:prstGeom>
          <a:solidFill>
            <a:srgbClr val="12122B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834640" y="2148840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Type amount → PIN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5486400" y="2148840"/>
            <a:ext cx="3657600" cy="347472"/>
          </a:xfrm>
          <a:prstGeom prst="rect">
            <a:avLst/>
          </a:prstGeom>
          <a:solidFill>
            <a:srgbClr val="0D1230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029200" y="2148840"/>
            <a:ext cx="54864" cy="347472"/>
          </a:xfrm>
          <a:prstGeom prst="rect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577840" y="2148840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00D9B4"/>
                </a:solidFill>
              </a:rPr>
              <a:t>Drag notes/coins — "pain of giving" sensation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457200" y="2523744"/>
            <a:ext cx="2286000" cy="347472"/>
          </a:xfrm>
          <a:prstGeom prst="rect">
            <a:avLst/>
          </a:prstGeom>
          <a:solidFill>
            <a:srgbClr val="0D0D1F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48640" y="2523744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E8E8FF"/>
                </a:solidFill>
              </a:rPr>
              <a:t>Balance Display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2743200" y="2523744"/>
            <a:ext cx="2743200" cy="347472"/>
          </a:xfrm>
          <a:prstGeom prst="rect">
            <a:avLst/>
          </a:prstGeom>
          <a:solidFill>
            <a:srgbClr val="0D0D1F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2834640" y="2523744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Static number</a:t>
            </a:r>
            <a:endParaRPr lang="en-US" sz="850"/>
          </a:p>
        </p:txBody>
      </p:sp>
      <p:sp>
        <p:nvSpPr>
          <p:cNvPr id="38" name="Shape 36"/>
          <p:cNvSpPr/>
          <p:nvPr/>
        </p:nvSpPr>
        <p:spPr>
          <a:xfrm>
            <a:off x="5486400" y="2523744"/>
            <a:ext cx="3657600" cy="347472"/>
          </a:xfrm>
          <a:prstGeom prst="rect">
            <a:avLst/>
          </a:prstGeom>
          <a:solidFill>
            <a:srgbClr val="0D1230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5029200" y="2523744"/>
            <a:ext cx="54864" cy="347472"/>
          </a:xfrm>
          <a:prstGeom prst="rect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577840" y="2523744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00D9B4"/>
                </a:solidFill>
              </a:rPr>
              <a:t>Animated liquid fill with color psychology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457200" y="2898648"/>
            <a:ext cx="2286000" cy="347472"/>
          </a:xfrm>
          <a:prstGeom prst="rect">
            <a:avLst/>
          </a:prstGeom>
          <a:solidFill>
            <a:srgbClr val="12122B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548640" y="2898648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E8E8FF"/>
                </a:solidFill>
              </a:rPr>
              <a:t>Voice Command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2743200" y="2898648"/>
            <a:ext cx="2743200" cy="347472"/>
          </a:xfrm>
          <a:prstGeom prst="rect">
            <a:avLst/>
          </a:prstGeom>
          <a:solidFill>
            <a:srgbClr val="12122B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2834640" y="2898648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None</a:t>
            </a:r>
            <a:endParaRPr lang="en-US" sz="850"/>
          </a:p>
        </p:txBody>
      </p:sp>
      <p:sp>
        <p:nvSpPr>
          <p:cNvPr id="45" name="Shape 43"/>
          <p:cNvSpPr/>
          <p:nvPr/>
        </p:nvSpPr>
        <p:spPr>
          <a:xfrm>
            <a:off x="5486400" y="2898648"/>
            <a:ext cx="3657600" cy="347472"/>
          </a:xfrm>
          <a:prstGeom prst="rect">
            <a:avLst/>
          </a:prstGeom>
          <a:solidFill>
            <a:srgbClr val="0D1230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5029200" y="2898648"/>
            <a:ext cx="54864" cy="347472"/>
          </a:xfrm>
          <a:prstGeom prst="rect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5577840" y="2898648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00D9B4"/>
                </a:solidFill>
              </a:rPr>
              <a:t>Full NLP intent: "Pay ₹500 to Praveen for lunch"</a:t>
            </a:r>
            <a:endParaRPr lang="en-US" sz="850"/>
          </a:p>
        </p:txBody>
      </p:sp>
      <p:sp>
        <p:nvSpPr>
          <p:cNvPr id="48" name="Shape 46"/>
          <p:cNvSpPr/>
          <p:nvPr/>
        </p:nvSpPr>
        <p:spPr>
          <a:xfrm>
            <a:off x="457200" y="3273552"/>
            <a:ext cx="2286000" cy="347472"/>
          </a:xfrm>
          <a:prstGeom prst="rect">
            <a:avLst/>
          </a:prstGeom>
          <a:solidFill>
            <a:srgbClr val="0D0D1F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548640" y="3273552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E8E8FF"/>
                </a:solidFill>
              </a:rPr>
              <a:t>QR Scanner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2743200" y="3273552"/>
            <a:ext cx="2743200" cy="347472"/>
          </a:xfrm>
          <a:prstGeom prst="rect">
            <a:avLst/>
          </a:prstGeom>
          <a:solidFill>
            <a:srgbClr val="0D0D1F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2834640" y="3273552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Basic camera scan</a:t>
            </a:r>
            <a:endParaRPr lang="en-US" sz="850"/>
          </a:p>
        </p:txBody>
      </p:sp>
      <p:sp>
        <p:nvSpPr>
          <p:cNvPr id="52" name="Shape 50"/>
          <p:cNvSpPr/>
          <p:nvPr/>
        </p:nvSpPr>
        <p:spPr>
          <a:xfrm>
            <a:off x="5486400" y="3273552"/>
            <a:ext cx="3657600" cy="347472"/>
          </a:xfrm>
          <a:prstGeom prst="rect">
            <a:avLst/>
          </a:prstGeom>
          <a:solidFill>
            <a:srgbClr val="0D1230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5029200" y="3273552"/>
            <a:ext cx="54864" cy="347472"/>
          </a:xfrm>
          <a:prstGeom prst="rect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5577840" y="3273552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00D9B4"/>
                </a:solidFill>
              </a:rPr>
              <a:t>AR grid, coin rain, animated reticle phases</a:t>
            </a:r>
            <a:endParaRPr lang="en-US" sz="850"/>
          </a:p>
        </p:txBody>
      </p:sp>
      <p:sp>
        <p:nvSpPr>
          <p:cNvPr id="55" name="Shape 53"/>
          <p:cNvSpPr/>
          <p:nvPr/>
        </p:nvSpPr>
        <p:spPr>
          <a:xfrm>
            <a:off x="457200" y="3648456"/>
            <a:ext cx="2286000" cy="347472"/>
          </a:xfrm>
          <a:prstGeom prst="rect">
            <a:avLst/>
          </a:prstGeom>
          <a:solidFill>
            <a:srgbClr val="12122B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548640" y="3648456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E8E8FF"/>
                </a:solidFill>
              </a:rPr>
              <a:t>Spending Insights</a:t>
            </a:r>
            <a:endParaRPr lang="en-US" sz="900"/>
          </a:p>
        </p:txBody>
      </p:sp>
      <p:sp>
        <p:nvSpPr>
          <p:cNvPr id="57" name="Shape 55"/>
          <p:cNvSpPr/>
          <p:nvPr/>
        </p:nvSpPr>
        <p:spPr>
          <a:xfrm>
            <a:off x="2743200" y="3648456"/>
            <a:ext cx="2743200" cy="347472"/>
          </a:xfrm>
          <a:prstGeom prst="rect">
            <a:avLst/>
          </a:prstGeom>
          <a:solidFill>
            <a:srgbClr val="12122B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2834640" y="3648456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Post-transaction only</a:t>
            </a:r>
            <a:endParaRPr lang="en-US" sz="850"/>
          </a:p>
        </p:txBody>
      </p:sp>
      <p:sp>
        <p:nvSpPr>
          <p:cNvPr id="59" name="Shape 57"/>
          <p:cNvSpPr/>
          <p:nvPr/>
        </p:nvSpPr>
        <p:spPr>
          <a:xfrm>
            <a:off x="5486400" y="3648456"/>
            <a:ext cx="3657600" cy="347472"/>
          </a:xfrm>
          <a:prstGeom prst="rect">
            <a:avLst/>
          </a:prstGeom>
          <a:solidFill>
            <a:srgbClr val="0D1230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5029200" y="3648456"/>
            <a:ext cx="54864" cy="347472"/>
          </a:xfrm>
          <a:prstGeom prst="rect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5577840" y="3648456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00D9B4"/>
                </a:solidFill>
              </a:rPr>
              <a:t>Real-time burn rate + month-end fund prediction</a:t>
            </a:r>
            <a:endParaRPr lang="en-US" sz="850"/>
          </a:p>
        </p:txBody>
      </p:sp>
      <p:sp>
        <p:nvSpPr>
          <p:cNvPr id="62" name="Shape 60"/>
          <p:cNvSpPr/>
          <p:nvPr/>
        </p:nvSpPr>
        <p:spPr>
          <a:xfrm>
            <a:off x="457200" y="4023360"/>
            <a:ext cx="2286000" cy="347472"/>
          </a:xfrm>
          <a:prstGeom prst="rect">
            <a:avLst/>
          </a:prstGeom>
          <a:solidFill>
            <a:srgbClr val="0D0D1F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548640" y="402336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E8E8FF"/>
                </a:solidFill>
              </a:rPr>
              <a:t>Savings</a:t>
            </a:r>
            <a:endParaRPr lang="en-US" sz="900"/>
          </a:p>
        </p:txBody>
      </p:sp>
      <p:sp>
        <p:nvSpPr>
          <p:cNvPr id="64" name="Shape 62"/>
          <p:cNvSpPr/>
          <p:nvPr/>
        </p:nvSpPr>
        <p:spPr>
          <a:xfrm>
            <a:off x="2743200" y="4023360"/>
            <a:ext cx="2743200" cy="347472"/>
          </a:xfrm>
          <a:prstGeom prst="rect">
            <a:avLst/>
          </a:prstGeom>
          <a:solidFill>
            <a:srgbClr val="0D0D1F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2834640" y="4023360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Basic RD/FD link</a:t>
            </a:r>
            <a:endParaRPr lang="en-US" sz="850"/>
          </a:p>
        </p:txBody>
      </p:sp>
      <p:sp>
        <p:nvSpPr>
          <p:cNvPr id="66" name="Shape 64"/>
          <p:cNvSpPr/>
          <p:nvPr/>
        </p:nvSpPr>
        <p:spPr>
          <a:xfrm>
            <a:off x="5486400" y="4023360"/>
            <a:ext cx="3657600" cy="347472"/>
          </a:xfrm>
          <a:prstGeom prst="rect">
            <a:avLst/>
          </a:prstGeom>
          <a:solidFill>
            <a:srgbClr val="0D1230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5029200" y="4023360"/>
            <a:ext cx="54864" cy="347472"/>
          </a:xfrm>
          <a:prstGeom prst="rect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5577840" y="4023360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00D9B4"/>
                </a:solidFill>
              </a:rPr>
              <a:t>Treasure Map gamification with hero avatar</a:t>
            </a:r>
            <a:endParaRPr lang="en-US" sz="850"/>
          </a:p>
        </p:txBody>
      </p:sp>
      <p:sp>
        <p:nvSpPr>
          <p:cNvPr id="69" name="Shape 67"/>
          <p:cNvSpPr/>
          <p:nvPr/>
        </p:nvSpPr>
        <p:spPr>
          <a:xfrm>
            <a:off x="457200" y="4398264"/>
            <a:ext cx="2286000" cy="347472"/>
          </a:xfrm>
          <a:prstGeom prst="rect">
            <a:avLst/>
          </a:prstGeom>
          <a:solidFill>
            <a:srgbClr val="12122B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548640" y="4398264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E8E8FF"/>
                </a:solidFill>
              </a:rPr>
              <a:t>Rewards</a:t>
            </a:r>
            <a:endParaRPr lang="en-US" sz="900"/>
          </a:p>
        </p:txBody>
      </p:sp>
      <p:sp>
        <p:nvSpPr>
          <p:cNvPr id="71" name="Shape 69"/>
          <p:cNvSpPr/>
          <p:nvPr/>
        </p:nvSpPr>
        <p:spPr>
          <a:xfrm>
            <a:off x="2743200" y="4398264"/>
            <a:ext cx="2743200" cy="347472"/>
          </a:xfrm>
          <a:prstGeom prst="rect">
            <a:avLst/>
          </a:prstGeom>
          <a:solidFill>
            <a:srgbClr val="12122B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2834640" y="4398264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Simple points</a:t>
            </a:r>
            <a:endParaRPr lang="en-US" sz="850"/>
          </a:p>
        </p:txBody>
      </p:sp>
      <p:sp>
        <p:nvSpPr>
          <p:cNvPr id="73" name="Shape 71"/>
          <p:cNvSpPr/>
          <p:nvPr/>
        </p:nvSpPr>
        <p:spPr>
          <a:xfrm>
            <a:off x="5486400" y="4398264"/>
            <a:ext cx="3657600" cy="347472"/>
          </a:xfrm>
          <a:prstGeom prst="rect">
            <a:avLst/>
          </a:prstGeom>
          <a:solidFill>
            <a:srgbClr val="0D1230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5029200" y="4398264"/>
            <a:ext cx="54864" cy="347472"/>
          </a:xfrm>
          <a:prstGeom prst="rect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5577840" y="4398264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00D9B4"/>
                </a:solidFill>
              </a:rPr>
              <a:t>Interactive scratch card canvas + Digital Gold</a:t>
            </a:r>
            <a:endParaRPr lang="en-US" sz="850"/>
          </a:p>
        </p:txBody>
      </p:sp>
      <p:sp>
        <p:nvSpPr>
          <p:cNvPr id="76" name="Shape 74"/>
          <p:cNvSpPr/>
          <p:nvPr/>
        </p:nvSpPr>
        <p:spPr>
          <a:xfrm>
            <a:off x="457200" y="4773168"/>
            <a:ext cx="2286000" cy="347472"/>
          </a:xfrm>
          <a:prstGeom prst="rect">
            <a:avLst/>
          </a:prstGeom>
          <a:solidFill>
            <a:srgbClr val="0D0D1F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548640" y="4773168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b="1">
                <a:solidFill>
                  <a:srgbClr val="E8E8FF"/>
                </a:solidFill>
              </a:rPr>
              <a:t>Developer View</a:t>
            </a:r>
            <a:endParaRPr lang="en-US" sz="900"/>
          </a:p>
        </p:txBody>
      </p:sp>
      <p:sp>
        <p:nvSpPr>
          <p:cNvPr id="78" name="Shape 76"/>
          <p:cNvSpPr/>
          <p:nvPr/>
        </p:nvSpPr>
        <p:spPr>
          <a:xfrm>
            <a:off x="2743200" y="4773168"/>
            <a:ext cx="2743200" cy="347472"/>
          </a:xfrm>
          <a:prstGeom prst="rect">
            <a:avLst/>
          </a:prstGeom>
          <a:solidFill>
            <a:srgbClr val="0D0D1F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9" name="Text 77"/>
          <p:cNvSpPr/>
          <p:nvPr/>
        </p:nvSpPr>
        <p:spPr>
          <a:xfrm>
            <a:off x="2834640" y="4773168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7070A0"/>
                </a:solidFill>
              </a:rPr>
              <a:t>None</a:t>
            </a:r>
            <a:endParaRPr lang="en-US" sz="850"/>
          </a:p>
        </p:txBody>
      </p:sp>
      <p:sp>
        <p:nvSpPr>
          <p:cNvPr id="80" name="Shape 78"/>
          <p:cNvSpPr/>
          <p:nvPr/>
        </p:nvSpPr>
        <p:spPr>
          <a:xfrm>
            <a:off x="5486400" y="4773168"/>
            <a:ext cx="3657600" cy="347472"/>
          </a:xfrm>
          <a:prstGeom prst="rect">
            <a:avLst/>
          </a:prstGeom>
          <a:solidFill>
            <a:srgbClr val="0D1230"/>
          </a:solidFill>
          <a:ln w="6350">
            <a:solidFill>
              <a:srgbClr val="1C1C3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5029200" y="4773168"/>
            <a:ext cx="54864" cy="347472"/>
          </a:xfrm>
          <a:prstGeom prst="rect">
            <a:avLst/>
          </a:prstGeom>
          <a:solidFill>
            <a:srgbClr val="00D9B4">
              <a:alpha val="80000"/>
            </a:srgbClr>
          </a:solidFill>
          <a:ln w="12700">
            <a:solidFill>
              <a:srgbClr val="00D9B4">
                <a:alpha val="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5577840" y="4773168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>
                <a:solidFill>
                  <a:srgbClr val="00D9B4"/>
                </a:solidFill>
              </a:rPr>
              <a:t>Double-entry ledger, T-accounts, Dev Mode toggle</a:t>
            </a:r>
            <a:endParaRPr lang="en-US" sz="85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LANDSCAPE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65760" y="1417320"/>
          <a:ext cx="7772400" cy="31455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0F1E"/>
                          </a:solidFill>
                        </a:rPr>
                        <a:t>RenoPay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CF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PhonePe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Google Pay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CRED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Paytm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AI Fraud Prevention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⚠️ Basic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⚠️ Basic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Budget AI &amp; Predictions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⚠️ Manual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Gamified Savings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⚠️ Limited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Digital Gold Round-ups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⚠️ Manual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Multi-language AI Chat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PIN-less Micro Payments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Financial Health Score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485132"/>
            <a:ext cx="84124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RenoPay is the ONLY app combining all 7 dimensions in a single product.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 err="1">
                <a:solidFill>
                  <a:srgbClr val="C4B5FD"/>
                </a:solidFill>
              </a:rPr>
              <a:t>RenoPay</a:t>
            </a:r>
            <a:r>
              <a:rPr lang="en-US" sz="900" i="1" dirty="0">
                <a:solidFill>
                  <a:srgbClr val="C4B5FD"/>
                </a:solidFill>
              </a:rPr>
              <a:t> — Redefining financial inclusion for the next billion users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1371600"/>
            <a:ext cx="4572000" cy="4572000"/>
          </a:xfrm>
          <a:prstGeom prst="ellipse">
            <a:avLst/>
          </a:prstGeom>
          <a:solidFill>
            <a:srgbClr val="0DCFB4">
              <a:alpha val="8000"/>
            </a:srgbClr>
          </a:solidFill>
          <a:ln w="12700">
            <a:solidFill>
              <a:srgbClr val="0DCFB4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OPPORTUNITY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303520" y="731520"/>
            <a:ext cx="3474720" cy="3474720"/>
          </a:xfrm>
          <a:prstGeom prst="ellipse">
            <a:avLst/>
          </a:prstGeom>
          <a:solidFill>
            <a:srgbClr val="0DCFB4">
              <a:alpha val="12000"/>
            </a:srgbClr>
          </a:solidFill>
          <a:ln w="12700">
            <a:solidFill>
              <a:srgbClr val="0DCF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280160"/>
            <a:ext cx="2377440" cy="2377440"/>
          </a:xfrm>
          <a:prstGeom prst="ellipse">
            <a:avLst/>
          </a:prstGeom>
          <a:solidFill>
            <a:srgbClr val="0DCFB4">
              <a:alpha val="25000"/>
            </a:srgbClr>
          </a:solidFill>
          <a:ln w="12700">
            <a:solidFill>
              <a:srgbClr val="0DCF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828800"/>
            <a:ext cx="1280160" cy="1280160"/>
          </a:xfrm>
          <a:prstGeom prst="ellipse">
            <a:avLst/>
          </a:prstGeom>
          <a:solidFill>
            <a:srgbClr val="0DCFB4">
              <a:alpha val="45000"/>
            </a:srgbClr>
          </a:solidFill>
          <a:ln w="12700">
            <a:solidFill>
              <a:srgbClr val="0DCF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822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₹50B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3504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₹18B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24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F1E"/>
                </a:solidFill>
              </a:rPr>
              <a:t>SOM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0F1E"/>
                </a:solidFill>
              </a:rPr>
              <a:t>₹3B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4389120" cy="713232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508760"/>
            <a:ext cx="73152" cy="713232"/>
          </a:xfrm>
          <a:prstGeom prst="rect">
            <a:avLst/>
          </a:prstGeom>
          <a:solidFill>
            <a:srgbClr val="0DCFB4"/>
          </a:solidFill>
          <a:ln w="12700">
            <a:solidFill>
              <a:srgbClr val="0DCF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5453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500M+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03120" y="1563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UPI Users in India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35% YoY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13432"/>
            <a:ext cx="4389120" cy="713232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13432"/>
            <a:ext cx="73152" cy="713232"/>
          </a:xfrm>
          <a:prstGeom prst="rect">
            <a:avLst/>
          </a:prstGeom>
          <a:solidFill>
            <a:srgbClr val="0DCFB4"/>
          </a:solidFill>
          <a:ln w="12700">
            <a:solidFill>
              <a:srgbClr val="0DCF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500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12B+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103120" y="23682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UPI Transactions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2697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₹20T+ monthly volume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118104"/>
            <a:ext cx="4389120" cy="713232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18104"/>
            <a:ext cx="73152" cy="713232"/>
          </a:xfrm>
          <a:prstGeom prst="rect">
            <a:avLst/>
          </a:prstGeom>
          <a:solidFill>
            <a:srgbClr val="0DCFB4"/>
          </a:solidFill>
          <a:ln w="12700">
            <a:solidFill>
              <a:srgbClr val="0DCF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154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103120" y="3172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lack financial literacy tools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35021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underserved segment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922776"/>
            <a:ext cx="4389120" cy="713232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922776"/>
            <a:ext cx="73152" cy="713232"/>
          </a:xfrm>
          <a:prstGeom prst="rect">
            <a:avLst/>
          </a:prstGeom>
          <a:solidFill>
            <a:srgbClr val="0DCFB4"/>
          </a:solidFill>
          <a:ln w="12700">
            <a:solidFill>
              <a:srgbClr val="0DCF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59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2103120" y="3977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Digital Economy Target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03120" y="43068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$1T digital payments goal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2192" y="4846320"/>
            <a:ext cx="9144000" cy="2971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94A3B8"/>
                </a:solidFill>
              </a:rPr>
              <a:t>RenoPay</a:t>
            </a:r>
            <a:r>
              <a:rPr lang="en-US" sz="900" dirty="0">
                <a:solidFill>
                  <a:srgbClr val="94A3B8"/>
                </a:solidFill>
              </a:rPr>
              <a:t>  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BB3C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0BB3C"/>
                </a:solidFill>
              </a:rPr>
              <a:t>MARKET OPPORTUNITY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FinTech is at an Inflection Point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1965960" cy="1737360"/>
          </a:xfrm>
          <a:prstGeom prst="rect">
            <a:avLst/>
          </a:prstGeom>
          <a:solidFill>
            <a:srgbClr val="0D0D1F"/>
          </a:solidFill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47472" y="1298448"/>
            <a:ext cx="1965960" cy="64008"/>
          </a:xfrm>
          <a:prstGeom prst="rect">
            <a:avLst/>
          </a:prstGeom>
          <a:solidFill>
            <a:srgbClr val="6E5AF0"/>
          </a:solidFill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47472" y="1463040"/>
            <a:ext cx="19659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6E5A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₹200T+</a:t>
            </a:r>
            <a:endParaRPr lang="en-US" sz="3000"/>
          </a:p>
        </p:txBody>
      </p:sp>
      <p:sp>
        <p:nvSpPr>
          <p:cNvPr id="8" name="Text 6"/>
          <p:cNvSpPr/>
          <p:nvPr/>
        </p:nvSpPr>
        <p:spPr>
          <a:xfrm>
            <a:off x="347472" y="2240280"/>
            <a:ext cx="19659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transactions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by 2027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496312" y="1298448"/>
            <a:ext cx="1965960" cy="1737360"/>
          </a:xfrm>
          <a:prstGeom prst="rect">
            <a:avLst/>
          </a:prstGeom>
          <a:solidFill>
            <a:srgbClr val="0D0D1F"/>
          </a:solidFill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496312" y="1298448"/>
            <a:ext cx="1965960" cy="64008"/>
          </a:xfrm>
          <a:prstGeom prst="rect">
            <a:avLst/>
          </a:prstGeom>
          <a:solidFill>
            <a:srgbClr val="00D9B4"/>
          </a:solidFill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496312" y="1463040"/>
            <a:ext cx="19659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0D9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500M+</a:t>
            </a:r>
            <a:endParaRPr lang="en-US" sz="3000"/>
          </a:p>
        </p:txBody>
      </p:sp>
      <p:sp>
        <p:nvSpPr>
          <p:cNvPr id="12" name="Text 10"/>
          <p:cNvSpPr/>
          <p:nvPr/>
        </p:nvSpPr>
        <p:spPr>
          <a:xfrm>
            <a:off x="2496312" y="2240280"/>
            <a:ext cx="19659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using UPI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 2024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645152" y="1298448"/>
            <a:ext cx="1965960" cy="1737360"/>
          </a:xfrm>
          <a:prstGeom prst="rect">
            <a:avLst/>
          </a:prstGeom>
          <a:solidFill>
            <a:srgbClr val="0D0D1F"/>
          </a:solidFill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645152" y="1298448"/>
            <a:ext cx="1965960" cy="64008"/>
          </a:xfrm>
          <a:prstGeom prst="rect">
            <a:avLst/>
          </a:prstGeom>
          <a:solidFill>
            <a:srgbClr val="FF3D60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45152" y="1463040"/>
            <a:ext cx="19659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3D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000"/>
          </a:p>
        </p:txBody>
      </p:sp>
      <p:sp>
        <p:nvSpPr>
          <p:cNvPr id="16" name="Text 14"/>
          <p:cNvSpPr/>
          <p:nvPr/>
        </p:nvSpPr>
        <p:spPr>
          <a:xfrm>
            <a:off x="4645152" y="2240280"/>
            <a:ext cx="19659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report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anxiety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6793992" y="1298448"/>
            <a:ext cx="1965960" cy="1737360"/>
          </a:xfrm>
          <a:prstGeom prst="rect">
            <a:avLst/>
          </a:prstGeom>
          <a:solidFill>
            <a:srgbClr val="0D0D1F"/>
          </a:solidFill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793992" y="1298448"/>
            <a:ext cx="1965960" cy="64008"/>
          </a:xfrm>
          <a:prstGeom prst="rect">
            <a:avLst/>
          </a:prstGeom>
          <a:solidFill>
            <a:srgbClr val="F0BB3C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793992" y="1463040"/>
            <a:ext cx="196596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0B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₹8,000</a:t>
            </a:r>
            <a:endParaRPr lang="en-US" sz="3000"/>
          </a:p>
        </p:txBody>
      </p:sp>
      <p:sp>
        <p:nvSpPr>
          <p:cNvPr id="20" name="Text 18"/>
          <p:cNvSpPr/>
          <p:nvPr/>
        </p:nvSpPr>
        <p:spPr>
          <a:xfrm>
            <a:off x="6793992" y="2240280"/>
            <a:ext cx="19659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spend/user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347472" y="3218688"/>
            <a:ext cx="8449056" cy="1783080"/>
          </a:xfrm>
          <a:prstGeom prst="rect">
            <a:avLst/>
          </a:prstGeom>
          <a:solidFill>
            <a:srgbClr val="0D0D1F"/>
          </a:solidFill>
          <a:effectLst>
            <a:outerShdw blurRad="1524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47472" y="3218688"/>
            <a:ext cx="64008" cy="1783080"/>
          </a:xfrm>
          <a:prstGeom prst="rect">
            <a:avLst/>
          </a:prstGeom>
          <a:solidFill>
            <a:srgbClr val="F0BB3C"/>
          </a:solidFill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66928" y="3337560"/>
            <a:ext cx="8046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0BB3C"/>
                </a:solidFill>
              </a:rPr>
              <a:t>WHY RENOPAY WINS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566928" y="3749040"/>
            <a:ext cx="8138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No other UPI app uses AI for real-time behavioral fraud analysis at transaction time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566928" y="4133088"/>
            <a:ext cx="8138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Budget prediction prevents overdraft — a first in the Indian UPI ecosystem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66928" y="4517136"/>
            <a:ext cx="8138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Built for Bharat: regional language support, voice auth for low-literacy users</a:t>
            </a:r>
            <a:endParaRPr lang="en-US" sz="120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645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SOCIAL IMPACT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Empowering Every Indian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133856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Financial Control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4B5FD"/>
                </a:solidFill>
              </a:rPr>
              <a:t>RenoPay brings AI-powered financial clarity to 1.4B people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2651760" cy="1234440"/>
          </a:xfrm>
          <a:prstGeom prst="rect">
            <a:avLst/>
          </a:prstGeom>
          <a:solidFill>
            <a:srgbClr val="1E1A3A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500M+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Unserved UPI Users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2331720"/>
            <a:ext cx="2651760" cy="1234440"/>
          </a:xfrm>
          <a:prstGeom prst="rect">
            <a:avLst/>
          </a:prstGeom>
          <a:solidFill>
            <a:srgbClr val="1E1A3A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2331720"/>
            <a:ext cx="265176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423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₹2.4L Cr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83280" y="29992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Lost to Impulse Spending/yr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2331720"/>
            <a:ext cx="2651760" cy="1234440"/>
          </a:xfrm>
          <a:prstGeom prst="rect">
            <a:avLst/>
          </a:prstGeom>
          <a:solidFill>
            <a:srgbClr val="1E1A3A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33172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423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309360" y="29992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</a:rPr>
              <a:t>Indians Lack Budget Awareness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1920240" cy="1078992"/>
          </a:xfrm>
          <a:prstGeom prst="rect">
            <a:avLst/>
          </a:prstGeom>
          <a:solidFill>
            <a:srgbClr val="1A1433"/>
          </a:solidFill>
          <a:ln w="12700">
            <a:solidFill>
              <a:srgbClr val="2D25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822192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59536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Fraud Prevention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0352" y="4114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4B5FD"/>
                </a:solidFill>
              </a:rPr>
              <a:t>SentinAI protects low-literacy users from scams &amp; social engineering in real time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633472" y="3749040"/>
            <a:ext cx="1920240" cy="1078992"/>
          </a:xfrm>
          <a:prstGeom prst="rect">
            <a:avLst/>
          </a:prstGeom>
          <a:solidFill>
            <a:srgbClr val="1A1433"/>
          </a:solidFill>
          <a:ln w="12700">
            <a:solidFill>
              <a:srgbClr val="2D25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822192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035808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Vernacular Access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2706624" y="4114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4B5FD"/>
                </a:solidFill>
              </a:rPr>
              <a:t>Full i18n support — Hindi, Tamil, English — reaching Bharat, not just metros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4809744" y="3749040"/>
            <a:ext cx="1920240" cy="1078992"/>
          </a:xfrm>
          <a:prstGeom prst="rect">
            <a:avLst/>
          </a:prstGeom>
          <a:solidFill>
            <a:srgbClr val="1A1433"/>
          </a:solidFill>
          <a:ln w="12700">
            <a:solidFill>
              <a:srgbClr val="2D25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822192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12080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Financial Literacy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882896" y="4114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4B5FD"/>
                </a:solidFill>
              </a:rPr>
              <a:t>Burn-rate alerts &amp; predictive budgeting make savings intuitive for first-time users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6986016" y="3749040"/>
            <a:ext cx="1920240" cy="1078992"/>
          </a:xfrm>
          <a:prstGeom prst="rect">
            <a:avLst/>
          </a:prstGeom>
          <a:solidFill>
            <a:srgbClr val="1A1433"/>
          </a:solidFill>
          <a:ln w="12700">
            <a:solidFill>
              <a:srgbClr val="2D25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22192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388352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Inclusive Design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7059168" y="4114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4B5FD"/>
                </a:solidFill>
              </a:rPr>
              <a:t>Voice commands + PIN-less UPI Lite — designed for elderly, differently-abled users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60F30"/>
          </a:solidFill>
          <a:ln w="12700">
            <a:solidFill>
              <a:srgbClr val="160F3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4B5FD"/>
                </a:solidFill>
              </a:rPr>
              <a:t>RenoPay — Redefining financial inclusion for the next billion users</a:t>
            </a:r>
            <a:endParaRPr lang="en-US" sz="1000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revenue streams — diversified, scalable, and aligned with user success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155448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2743200" cy="347472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90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Premium Subscription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₹99/mo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1579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RenoPay Pro unlocks advanced AI insights, unlimited savings goals, and priority fraud alerts.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MAU target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743200" cy="155448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463040"/>
            <a:ext cx="2743200" cy="347472"/>
          </a:xfrm>
          <a:prstGeom prst="rect">
            <a:avLst/>
          </a:prstGeom>
          <a:solidFill>
            <a:srgbClr val="0DCFB4">
              <a:alpha val="30000"/>
            </a:srgbClr>
          </a:solidFill>
          <a:ln w="12700">
            <a:solidFill>
              <a:srgbClr val="0DCFB4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490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Transaction Interchange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847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C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21579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on each UPI and RuPay Credit Card transaction processed through RenoPay.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2724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₹3.2 Cr/month at 1M users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2743200" cy="155448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463040"/>
            <a:ext cx="2743200" cy="347472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490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Digital Gold Spread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1847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0.5% spread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1579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Buy/sell spread on Digital Gold round-ups and direct gold purchases inside the app.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724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₹80L/month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2743200" cy="155448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154680"/>
            <a:ext cx="2743200" cy="347472"/>
          </a:xfrm>
          <a:prstGeom prst="rect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82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Mutual Fund Distribution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5387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1% trail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5760" y="38496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AMFI-licensed distribution of SIP and lumpsum mutual fund investments within the app.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416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 Cr AUM/month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46120" y="3154680"/>
            <a:ext cx="2743200" cy="155448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3154680"/>
            <a:ext cx="2743200" cy="347472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182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BNPL &amp; Lending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37560" y="35387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2–4% fee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337560" y="38496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micro-credit and BNPL partnerships with NBFCs for instant in-app credit lines.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37560" y="4416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Q3 2025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0" y="3154680"/>
            <a:ext cx="2743200" cy="1554480"/>
          </a:xfrm>
          <a:prstGeom prst="rect">
            <a:avLst/>
          </a:prstGeom>
          <a:solidFill>
            <a:srgbClr val="1A1F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154680"/>
            <a:ext cx="2743200" cy="347472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182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Targeted Insights (B2B)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35387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₹5L/client/yr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09360" y="38496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Anonymised, aggregated spending trends sold to FMCG and insurance partners for market research.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4416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LOIs signed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RenoPay  •  Investor Deck 2025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F59E0B">
              <a:alpha val="7000"/>
            </a:srgbClr>
          </a:solidFill>
          <a:ln w="12700">
            <a:solidFill>
              <a:srgbClr val="F59E0B">
                <a:alpha val="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43200" cy="3246120"/>
          </a:xfrm>
          <a:prstGeom prst="rect">
            <a:avLst/>
          </a:prstGeom>
          <a:solidFill>
            <a:srgbClr val="181C35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743200" cy="658368"/>
          </a:xfrm>
          <a:prstGeom prst="rect">
            <a:avLst/>
          </a:prstGeom>
          <a:solidFill>
            <a:srgbClr val="00D4AA">
              <a:alpha val="7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700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the Metros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" y="260604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5786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campus ambassador program in 20 tier-1 cities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306324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 cashback on first 3 transactions (refer + earn)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" y="352044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 &amp; Twitter/X fintech community launch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" y="3977640"/>
            <a:ext cx="164592" cy="164592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2L downloads, 60K MAU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417320"/>
            <a:ext cx="2743200" cy="3246120"/>
          </a:xfrm>
          <a:prstGeom prst="rect">
            <a:avLst/>
          </a:prstGeom>
          <a:solidFill>
            <a:srgbClr val="181C35"/>
          </a:solidFill>
          <a:ln w="12700">
            <a:solidFill>
              <a:srgbClr val="6C63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417320"/>
            <a:ext cx="2743200" cy="658368"/>
          </a:xfrm>
          <a:prstGeom prst="rect">
            <a:avLst/>
          </a:prstGeom>
          <a:solidFill>
            <a:srgbClr val="6C63FF">
              <a:alpha val="7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1700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Bharat Push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55848" y="2606040"/>
            <a:ext cx="164592" cy="16459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25786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influencer collabs — YouTubers in Hindi &amp; Tamil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55848" y="3063240"/>
            <a:ext cx="164592" cy="16459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store partnerships: QR stickers + merchant wallets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55848" y="3520440"/>
            <a:ext cx="164592" cy="16459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UAC campaigns targeting tier-2/3 cities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55848" y="3977640"/>
            <a:ext cx="164592" cy="16459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15L downloads, 4L MAU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1417320"/>
            <a:ext cx="2743200" cy="3246120"/>
          </a:xfrm>
          <a:prstGeom prst="rect">
            <a:avLst/>
          </a:prstGeom>
          <a:solidFill>
            <a:srgbClr val="181C35"/>
          </a:solidFill>
          <a:ln w="12700">
            <a:solidFill>
              <a:srgbClr val="FF4F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1417320"/>
            <a:ext cx="2743200" cy="658368"/>
          </a:xfrm>
          <a:prstGeom prst="rect">
            <a:avLst/>
          </a:prstGeom>
          <a:solidFill>
            <a:srgbClr val="FF4FA0">
              <a:alpha val="75000"/>
            </a:srgbClr>
          </a:solidFill>
          <a:ln w="12700">
            <a:solidFill>
              <a:srgbClr val="FF4F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1700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F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 &amp; Lock-In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81928" y="2606040"/>
            <a:ext cx="164592" cy="164592"/>
          </a:xfrm>
          <a:prstGeom prst="ellipse">
            <a:avLst/>
          </a:prstGeom>
          <a:solidFill>
            <a:srgbClr val="FF4FA0"/>
          </a:solidFill>
          <a:ln w="12700">
            <a:solidFill>
              <a:srgbClr val="FF4F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25786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credit line launch drives stickiness (lending &gt; payments)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81928" y="3063240"/>
            <a:ext cx="164592" cy="164592"/>
          </a:xfrm>
          <a:prstGeom prst="ellipse">
            <a:avLst/>
          </a:prstGeom>
          <a:solidFill>
            <a:srgbClr val="FF4FA0"/>
          </a:solidFill>
          <a:ln w="12700">
            <a:solidFill>
              <a:srgbClr val="FF4F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9672" y="30358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white-label SentinAI licensing to co-operative banks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81928" y="3520440"/>
            <a:ext cx="164592" cy="164592"/>
          </a:xfrm>
          <a:prstGeom prst="ellipse">
            <a:avLst/>
          </a:prstGeom>
          <a:solidFill>
            <a:srgbClr val="FF4FA0"/>
          </a:solidFill>
          <a:ln w="12700">
            <a:solidFill>
              <a:srgbClr val="FF4F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9672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integration for voice payments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81928" y="3977640"/>
            <a:ext cx="164592" cy="164592"/>
          </a:xfrm>
          <a:prstGeom prst="ellipse">
            <a:avLst/>
          </a:prstGeom>
          <a:solidFill>
            <a:srgbClr val="FF4FA0"/>
          </a:solidFill>
          <a:ln w="12700">
            <a:solidFill>
              <a:srgbClr val="FF4F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9672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1Cr downloads, 25L MAU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27248" y="3063240"/>
            <a:ext cx="182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3063240"/>
            <a:ext cx="182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RenoPay  •  Confidential  •  2025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6C63FF">
              <a:alpha val="9000"/>
            </a:srgbClr>
          </a:solidFill>
          <a:ln w="12700">
            <a:solidFill>
              <a:srgbClr val="6C63FF">
                <a:alpha val="9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73152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44475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2057400" cy="2697480"/>
          </a:xfrm>
          <a:prstGeom prst="rect">
            <a:avLst/>
          </a:prstGeom>
          <a:solidFill>
            <a:srgbClr val="181C3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2057400" cy="530352"/>
          </a:xfrm>
          <a:prstGeom prst="rect">
            <a:avLst/>
          </a:prstGeom>
          <a:solidFill>
            <a:srgbClr val="10B981">
              <a:alpha val="3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47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130552"/>
            <a:ext cx="1417320" cy="18288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305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SentinAI v1 (7 signals)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Voice UPI (Hindi/Tamil)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Note Slider UX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Digital Gold Round-ups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AR QR Scanner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1444752"/>
            <a:ext cx="292608" cy="29260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1828800"/>
            <a:ext cx="2057400" cy="2697480"/>
          </a:xfrm>
          <a:prstGeom prst="rect">
            <a:avLst/>
          </a:prstGeom>
          <a:solidFill>
            <a:srgbClr val="181C35"/>
          </a:solidFill>
          <a:ln w="127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1828800"/>
            <a:ext cx="2057400" cy="530352"/>
          </a:xfrm>
          <a:prstGeom prst="rect">
            <a:avLst/>
          </a:prstGeom>
          <a:solidFill>
            <a:srgbClr val="00D4AA">
              <a:alpha val="3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1847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26080" y="2130552"/>
            <a:ext cx="1417320" cy="182880"/>
          </a:xfrm>
          <a:prstGeom prst="rect">
            <a:avLst/>
          </a:prstGeom>
          <a:solidFill>
            <a:srgbClr val="00D4AA">
              <a:alpha val="40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1305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697480" y="2423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iOS App (TestFlight)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97480" y="2834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Reno-Bot GPT-4o integration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97480" y="32461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AMFI MF Distribution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97480" y="3657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Bill Splitter 2.0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97480" y="4069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SentinAI v2 (community)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32120" y="144475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828800"/>
            <a:ext cx="2057400" cy="2697480"/>
          </a:xfrm>
          <a:prstGeom prst="rect">
            <a:avLst/>
          </a:prstGeom>
          <a:solidFill>
            <a:srgbClr val="181C35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828800"/>
            <a:ext cx="2057400" cy="530352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847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74920" y="2130552"/>
            <a:ext cx="1417320" cy="182880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1305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46320" y="2423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NBFC credit line (BNPL)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2834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UPI Credit on RuPay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2461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Merchant POS dashboard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46320" y="3657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WhatsApp pay integration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4069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SentinAI API (B2B)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680960" y="1444752"/>
            <a:ext cx="292608" cy="2926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1828800"/>
            <a:ext cx="2057400" cy="2697480"/>
          </a:xfrm>
          <a:prstGeom prst="rect">
            <a:avLst/>
          </a:prstGeom>
          <a:solidFill>
            <a:srgbClr val="181C35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03720" y="1828800"/>
            <a:ext cx="2057400" cy="530352"/>
          </a:xfrm>
          <a:prstGeom prst="rect">
            <a:avLst/>
          </a:prstGeom>
          <a:solidFill>
            <a:srgbClr val="A78BFA">
              <a:alpha val="3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1847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23760" y="2130552"/>
            <a:ext cx="1417320" cy="182880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21305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995160" y="2423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Mutual fund SIP autoPay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95160" y="28346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Insurance micro-products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95160" y="32461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Multi-bank aggregation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95160" y="3657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RenoPay for Business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95160" y="4069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Expand: Tamil Nadu, UP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050"/>
          </a:solidFill>
          <a:ln w="12700">
            <a:solidFill>
              <a:srgbClr val="2A30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RenoPay  •  Confidential  •  2025</a:t>
            </a:r>
            <a:endParaRPr lang="en-US" sz="900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457200"/>
            <a:ext cx="4114800" cy="4114800"/>
          </a:xfrm>
          <a:prstGeom prst="ellipse">
            <a:avLst/>
          </a:prstGeom>
          <a:solidFill>
            <a:srgbClr val="1A0E38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914400"/>
            <a:ext cx="3200400" cy="3200400"/>
          </a:xfrm>
          <a:prstGeom prst="ellipse">
            <a:avLst/>
          </a:prstGeom>
          <a:solidFill>
            <a:srgbClr val="200E45"/>
          </a:solidFill>
          <a:ln w="12700">
            <a:solidFill>
              <a:srgbClr val="3D1E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55448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621792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C4B5FD"/>
                </a:solidFill>
              </a:rPr>
              <a:t>RENOPAY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0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0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4B5FD"/>
                </a:solidFill>
              </a:rPr>
              <a:t>We built RenoPay to give every Indian a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4B5FD"/>
                </a:solidFill>
              </a:rPr>
              <a:t>smarter, safer, and more mindful way to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4B5FD"/>
                </a:solidFill>
              </a:rPr>
              <a:t>manage their money.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Try it now: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37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VPA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rishabh@renopay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21608"/>
            <a:ext cx="822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216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B050"/>
                </a:solidFill>
              </a:rPr>
              <a:t>https://renopay.vercel.app/</a:t>
            </a:r>
          </a:p>
        </p:txBody>
      </p:sp>
      <p:sp>
        <p:nvSpPr>
          <p:cNvPr id="19" name="Shape 17"/>
          <p:cNvSpPr/>
          <p:nvPr/>
        </p:nvSpPr>
        <p:spPr>
          <a:xfrm>
            <a:off x="457200" y="4105656"/>
            <a:ext cx="822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05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Demo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4105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Works on any device — no setup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36592"/>
            <a:ext cx="9144000" cy="338328"/>
          </a:xfrm>
          <a:prstGeom prst="rect">
            <a:avLst/>
          </a:prstGeom>
          <a:solidFill>
            <a:srgbClr val="120B2A"/>
          </a:solidFill>
          <a:ln w="12700">
            <a:solidFill>
              <a:srgbClr val="120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736592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7C3AED"/>
                </a:solidFill>
              </a:rPr>
              <a:t>#RenoPay  |  #FinTechForBharat  |  #AIFirstUPI  |  #BuildForIndia</a:t>
            </a:r>
            <a:endParaRPr lang="en-US" sz="1000"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36"/>
  <p:tag name="AS_OS" val="Microsoft Windows NT 10.0.20348.0"/>
  <p:tag name="AS_RELEASE_DATE" val="2025.10.14"/>
  <p:tag name="AS_TITLE" val="Aspose.Slides for .NET6"/>
  <p:tag name="AS_VERSION" val="25.1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3332</Words>
  <Application>Microsoft Office PowerPoint</Application>
  <PresentationFormat>On-screen Show (16:9)</PresentationFormat>
  <Paragraphs>721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Arial Black</vt:lpstr>
      <vt:lpstr>Calibri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RenoPay – The Future of Digital Payments</dc:title>
  <dc:subject>PptxGenJS Presentation</dc:subject>
  <dc:creator>RenoPay Team</dc:creator>
  <cp:lastModifiedBy>RISHABH RAJ</cp:lastModifiedBy>
  <cp:revision>2</cp:revision>
  <cp:lastPrinted>2026-04-02T08:37:47Z</cp:lastPrinted>
  <dcterms:created xsi:type="dcterms:W3CDTF">2026-03-30T10:01:25Z</dcterms:created>
  <dcterms:modified xsi:type="dcterms:W3CDTF">2026-04-02T09:14:28Z</dcterms:modified>
</cp:coreProperties>
</file>